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Spring Boot + Spring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产品团队技术培训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DB33F"/>
                </a:solidFill>
                <a:latin typeface="Microsoft YaHei"/>
              </a:defRPr>
            </a:pPr>
            <a:r>
              <a:t>Spring Boot 3.x  ·  MyBatis Plus  ·  Spring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~2h35min  ·  上半场实操 + 下半场理论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4302D"/>
                </a:solidFill>
                <a:latin typeface="Microsoft YaHei"/>
              </a:defRPr>
            </a:pPr>
            <a:r>
              <a:t>课程安排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上半场：Spring Boot 实操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302D"/>
                </a:solidFill>
                <a:latin typeface="Microsoft YaHei"/>
              </a:defRPr>
            </a:pPr>
            <a:r>
              <a:t>Ch1 演进之路 → Ch2 核心机制+demo1</a:t>
            </a:r>
            <a:br/>
            <a:r>
              <a:t>→ Ch3 Web层+demo2 → Ch4 数据层+demo3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~95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下半场：Spring Cloud 理论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651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302D"/>
                </a:solidFill>
                <a:latin typeface="Microsoft YaHei"/>
              </a:defRPr>
            </a:pPr>
            <a:r>
              <a:t>Ch5 为什么微服务 → Ch6 六大组件</a:t>
            </a:r>
            <a:br/>
            <a:r>
              <a:t>→ Ch7 产品视角 → Ch8 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~48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从 Spring MVC 到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演进之路 · ~15min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1.2 先看结果——demo1-initializer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292608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// Demo1Application.java：构造器注入 + 启动后自动执行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@SpringBootApplication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public class Demo1Application implements CommandLineRunner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private final GreetingService greetingService;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Demo1Application(GreetingService greetingService) { this.greetingService = greetingService;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static void main(String[] args) { SpringApplication.run(Demo1Application.class, args);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void run(String... args) { System.out.println(greetingService.greet("产品团队"));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// ChineseGreetingService.java：@Service 标记，Spring 自动发现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@Service public class ChineseGreetingService implements GreetingService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String greet(String name) { return "你好，" + name + "！";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// LoggingAspect.java：@Aspect，所有 service 方法自动加计时日志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@Aspect @Component public class LoggingAspect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@Around("execution(* com.example.demo1.service..*.*(..))")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Object log(ProceedingJoinPoint jp) throws Throwable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 long s=System.currentTimeMillis(); Object r=jp.proceed();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 System.out.println("[AOP] "+jp.getSignature().toShortString()+" 耗时:"+(System.currentTimeMillis()-s)+"ms");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 return r;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B33F"/>
                </a:solidFill>
                <a:latin typeface="Microsoft YaHei"/>
              </a:defRPr>
            </a:pPr>
            <a:r>
              <a:t>mvn spring-boot:run → 0.4 秒启动 → IoC 注入 + AOP 日志全在工作。零行 XML。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1.3 对比——传统方式 vs Spring Boot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YaHei"/>
              </a:defRPr>
            </a:pPr>
            <a:r>
              <a:t>传统 Spring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77440"/>
            <a:ext cx="4572000" cy="13716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100">
                <a:solidFill>
                  <a:srgbClr val="E6DB74"/>
                </a:solidFill>
                <a:latin typeface="Courier New"/>
              </a:defRPr>
            </a:pPr>
            <a:r>
              <a:t>&lt;context:component-scan base-package="com.example.service"/&gt;</a:t>
            </a:r>
          </a:p>
          <a:p>
            <a:pPr>
              <a:spcAft>
                <a:spcPts val="100"/>
              </a:spcAft>
              <a:defRPr sz="1100">
                <a:solidFill>
                  <a:srgbClr val="E6DB74"/>
                </a:solidFill>
                <a:latin typeface="Courier New"/>
              </a:defRPr>
            </a:pPr>
            <a:r>
              <a:t>&lt;context:annotation-config/&gt;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302D"/>
                </a:solidFill>
                <a:latin typeface="Microsoft YaHei"/>
              </a:defRPr>
            </a:pPr>
            <a:r>
              <a:t>每个项目都要写这两行。包名变化时跟着改。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Spring Boot (demo1)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0 行 XML。@SpringBootApplication 默认从启动类包开始扫描，@Autowired 自动生效。0.4 秒跑起来。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web.xml、spring-mvc.xml 那 80+ 行是 Web 层配置——demo1 没有 Web 模块。第三章加了 Web Starter 之后再对比。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1.4 约定大于配置 &amp; 1.5 Spring Boot 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4302D"/>
                </a:solidFill>
                <a:latin typeface="Microsoft YaHei"/>
              </a:defRPr>
            </a:pPr>
            <a:r>
              <a:t>配置 = 你告诉框架每一个细节。约定 = 框架预设默认行为，按规矩来就自动生效。</a:t>
            </a:r>
            <a:br/>
            <a:r>
              <a:t>举例：不写端口配置→8080 已在监听。想改 server.port=9090，不改就默认。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85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痛点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解法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手写 XML 配置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自动配置——约定好了，不用写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6~8 个依赖版本对齐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Starter 套餐——一个依赖一组功能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装 Tomcat 打 WAR 部署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内嵌 Tomcat——java -jar 直接跑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搭环境半天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Spring Initializr——30 秒生成项目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B33F"/>
                </a:solidFill>
                <a:latin typeface="Microsoft YaHei"/>
              </a:defRPr>
            </a:pPr>
            <a:r>
              <a:t>Spring Boot = Spring + Spring MVC + 自动配置 + 内嵌服务器。它是 Spring 的自动挡。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1.6 演进全景图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302D"/>
                </a:solidFill>
                <a:latin typeface="Microsoft YaHei"/>
              </a:defRPr>
            </a:pPr>
            <a:r>
              <a:t>Java Servlet → Spring Framework → Spring MVC → Spring Boot → Spring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DB33F"/>
                </a:solidFill>
                <a:latin typeface="Microsoft YaHei"/>
              </a:defRPr>
            </a:pPr>
            <a:r>
              <a:t>↑ 上节课                    ↑ 本节课上半场                    ↑ 本节课下半场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Spring Initializr: start.spring.io — Maven + Java 21 + Spring Boot 3.3.x → Generate → 解压 → 直接跑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核心机制 + demo1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IoC / AOP 层 · ~20min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2.1 @SpringBootApplication 三合一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@SpringBootApplication  // ← 三合一注解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public class Demo1Application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static void main(String[] args) { SpringApplication.run(Demo1Application.class, args);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9260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2004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注解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上节课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@Configuration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标记配置类，可定义 Bean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涉及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@ComponentScan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扫描当前包及子包下组件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涉及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@EnableAutoConfiguration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自动配置——Spring Boot 的灵魂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本节课新内容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2.2 自动配置——两条约定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约定一：默认扫描位置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@ComponentScan 从启动类所在包开始向下扫描所有子包。Demo1Application 在 com.example.demo1，所以 service/、aspect/ 下的 @Service、@Aspect 自动被发现。类放到包外则扫不到，需显式配置。不需要在 XML 里写 &lt;context:component-scan base-package="..."/&gt;。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约定二：注解自动生效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传统 Spring 需要 &lt;context:annotation-config/&gt; 开启注解处理。Spring Boot 自动开启——写 @Autowired 即生效，无需任何 XML 开关。两条约定合在一起：知道去哪扫、扫到怎么处理。开发者只需写注解。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2.2 精装修公寓 &amp; 2.3 Demo1 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传统 Spring = 毛坯房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墙自己刷、电线自己铺、地板自己装</a:t>
            </a:r>
            <a:br/>
            <a:r>
              <a:t>好处：想怎么装怎么装</a:t>
            </a:r>
            <a:br/>
            <a:r>
              <a:t>坏处：每个项目从头装一遍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Spring Boot = 精装修公寓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拎包入住。不满意可以改——</a:t>
            </a:r>
            <a:br/>
            <a:r>
              <a:t>你的配置优先级高于默认配置。</a:t>
            </a:r>
            <a:br/>
            <a:r>
              <a:t>条件装配：你需要+没配→我来。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Demo1 回顾：启动类在 com.example.demo1，@Service 在子包下，自动扫描。构造器注入生效。mvn run → 0.4s，IoC+AOP 全在工作。没有 Web 能力——下一步加 starter-web。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Web 层实战 + demo2-web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承上启下核心章 · ~30min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302D"/>
                </a:solidFill>
                <a:latin typeface="Microsoft YaHei"/>
              </a:defRPr>
            </a:pPr>
            <a:r>
              <a:t>3.1 demo2 多了一个依赖 &amp; 3.2 传统 Spring MVC 的 3 个 XML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9144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&lt;dependency&gt;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&lt;groupId&gt;org.springframework.boot&lt;/groupId&gt;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&lt;artifactId&gt;spring-boot-starter-web&lt;/artifactId&gt;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&lt;/dependency&gt;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B33F"/>
                </a:solidFill>
                <a:latin typeface="Microsoft YaHei"/>
              </a:defRPr>
            </a:pPr>
            <a:r>
              <a:t>这一行 = Tomcat + Spring MVC +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74C3C"/>
                </a:solidFill>
                <a:latin typeface="Microsoft YaHei"/>
              </a:defRPr>
            </a:pPr>
            <a:r>
              <a:t>传统方式需要 3 个 XML 文件 80+ 行配置</a:t>
            </a:r>
            <a:br/>
            <a:r>
              <a:t>+ 装 Tomcat + 打 WAR + 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515600" cy="32004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// web.xml（~30行）：配置 DispatcherServlet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&lt;web-app&gt;&lt;servlet&gt;&lt;servlet-name&gt;dispatcher&lt;/servlet-name&gt;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&lt;servlet-class&gt;org.springframework.web.servlet.DispatcherServlet&lt;/servlet-class&gt;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&lt;init-param&gt;&lt;param-name&gt;contextConfigLocation&lt;/param-name&gt;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&lt;param-value&gt;/WEB-INF/spring-mvc.xml&lt;/param-value&gt;&lt;/init-param&gt;&lt;/servlet&gt;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&lt;servlet-mapping&gt;&lt;servlet-name&gt;dispatcher&lt;/servlet-name&gt;&lt;url-pattern&gt;/&lt;/url-pattern&gt;&lt;/servlet-mapping&gt;&lt;/web-app&gt;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// applicationContext.xml（~20行）：数据源、事务、扫描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&lt;beans&gt;&lt;context:component-scan base-package="com.example"/&gt;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&lt;bean id="dataSource" class="...BasicDataSource"&gt;&lt;property name="driverClassName" value="com.mysql.cj.jdbc.Driver"/&gt;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&lt;property name="url" value="jdbc:mysql://localhost:3306/demo"/&gt;&lt;/bean&gt;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&lt;bean id="txManager" class="...DataSourceTransactionManager"&gt;&lt;property name="dataSource" ref="dataSource"/&gt;&lt;/bean&gt;&lt;/beans&gt;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// spring-mvc.xml（~30行）：视图解析器、注解驱动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&lt;beans&gt;&lt;mvc:annotation-driven/&gt;&lt;context:component-scan base-package="com.example.controller"/&gt;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&lt;bean class="...InternalResourceViewResolver"&gt;&lt;property name="prefix" value="/WEB-INF/views/"/&gt;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&lt;property name="suffix" value=".jsp"/&gt;&lt;/bean&gt;&lt;/beans&gt;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DB33F"/>
                </a:solidFill>
                <a:latin typeface="Microsoft YaHei"/>
              </a:defRPr>
            </a:pPr>
            <a:r>
              <a:t>而 demo2：1 个 starter-web 依赖</a:t>
            </a:r>
            <a:br/>
            <a:r>
              <a:t>+ 1 个 @RestController。零行 XML。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3.3 承上启下对照表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  <a:gridCol w="228600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上节课（传统 Spring MVC）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Spring Boot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还需要吗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web.xml 配置 DispatcherServlet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starter-web 自动配置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不需要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spring-mvc.xml 配置视图解析器、注解驱动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WebMvcAutoConfiguration 自动配置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不需要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applicationContext.xml 配置组件扫描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@SpringBootApplication 自带扫描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不需要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写 @Controller + @RequestMapping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写 @RestController + @GetMapping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写法一样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装 Tomcat → 打 WAR → 部署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内嵌 Tomcat，java -jar 直接跑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不需要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B33F"/>
                </a:solidFill>
                <a:latin typeface="Microsoft YaHei"/>
              </a:defRPr>
            </a:pPr>
            <a:r>
              <a:t>上节课教的 @Controller 怎么用——照用。web.xml 怎么配——不用了。Starter 已替代三个 XML 文件。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302D"/>
                </a:solidFill>
                <a:latin typeface="Microsoft YaHei"/>
              </a:defRPr>
            </a:pPr>
            <a:r>
              <a:t>3.4 REST API &amp; 3.5 统一响应 &amp; 3.6 异常处理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2286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@RestController  // = @Controller + @ResponseBody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public class GreetingController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private final GreetingService greetingService;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@GetMapping("/api/greeting")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public Result&lt;String&gt; greet(@RequestParam String name)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 return Result.success(greetingService.greet(name));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4846320" cy="2286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// 统一响应格式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{"code":200,"message":"操作成功","data":{...}}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// 全局异常处理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@RestControllerAdvice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public class GlobalExceptionHandler {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    @ExceptionHandler(BusinessException.class)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    public Result&lt;?&gt; handle(BusinessException e) {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        return Result.error(e.getCode(), e.getMessage());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9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@RestController = @Controller + 自动 JSON 序列化。@GetMapping = @RequestMapping 的 GET 限定版。</a:t>
            </a:r>
            <a:br/>
            <a:r>
              <a:t>统一响应：所有接口返回 {code, message, data}，前端只需判断 code===200。</a:t>
            </a:r>
            <a:br/>
            <a:r>
              <a:t>统一异常：@RestControllerAdvice 一个注解全局处理异常，Controller 里不需要 try-catch。</a:t>
            </a:r>
            <a:br/>
            <a:r>
              <a:t>运行：mvn run → Tomcat started on port 8080 → curl 返回 JSON。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数据层实战 + demo3-data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~30min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4.2 MyBatis Plus —— 数据层的约定大于配置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7432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// Entity —— 一个类对应一张表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@Data @TableName("employee")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public class Employee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@TableId(type = IdType.AUTO) private Long id;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private String name;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private BigDecimal salary;       // 金额用 BigDecimal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private LocalDateTime createTime;// 日期用 LocalDateTime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27432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// Mapper —— 空接口 = 全套 CRUD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@Mapper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public interface EmployeeMapper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 extends BaseMapper&lt;Employee&gt; {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// 空接口！继承 BaseMapper 自动拥有：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// insert、deleteById、updateById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// selectById、selectList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// selectPage、selectCount ...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DB33F"/>
                </a:solidFill>
                <a:latin typeface="Microsoft YaHei"/>
              </a:defRPr>
            </a:pPr>
            <a:r>
              <a:t>传统 MyBatis：每张表约 10 条 SQL，十张表 100 条。MyBatis Plus：继承一个接口，完事。这是数据层的约定大于配置。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4.3 条件查询 &amp; 4.4 配置管理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2286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LambdaQueryWrapper&lt;Employee&gt; wrapper = new LambdaQueryWrapper&lt;&gt;();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wrapper.like(name != null, Employee::getName, name)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.eq(deptId != null, Employee::getDepartmentId, deptId)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   .orderByDesc(Employee::getId);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Page&lt;Employee&gt; page = new Page&lt;&gt;(1, 10);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employeeMapper.selectPage(page, wrapper);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// 返回: records、total、current、pages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3931920" cy="2286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# application.yml: 5 行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spring: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datasource: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url: jdbc:h2:mem:demo3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  username: sa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sql.init.mode: always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# 换 MySQL 改 3 行，代码不动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LambdaQueryWrapper 链式调用，字段名用方法引用——写错编译器直接报错。分页 count/limit 自动完成。</a:t>
            </a:r>
            <a:br/>
            <a:r>
              <a:t>5 行 YAML 替代传统 21 行 XML。换 MySQL 改 3 行配置，代码不变。多环境：application-dev.yml / prod.yml，一行切换。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4.6 运行验证 &amp; 4.7 三阶段小结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32004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ctr"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cd demo3-data &amp;&amp; mvn spring-boot:run  # &lt; 1秒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curl localhost:8080/api/employees                # 查全部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curl 'localhost:8080/api/employees?current=1&amp;size=5' # 分页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curl 'localhost:8080/api/employees?name=张'      # 模糊搜索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curl -X POST localhost:8080/api/employees \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-H 'Content-Type: application/json' \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  -d '{"name":"新员工","age":26,"deptId":1,"salary":15000}'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curl localhost:8080/api/employees/999</a:t>
            </a:r>
          </a:p>
          <a:p>
            <a:pPr>
              <a:spcAft>
                <a:spcPts val="100"/>
              </a:spcAft>
              <a:defRPr sz="1000">
                <a:solidFill>
                  <a:srgbClr val="E6DB74"/>
                </a:solidFill>
                <a:latin typeface="Courier New"/>
              </a:defRPr>
            </a:pPr>
            <a:r>
              <a:t># -&gt; {"code":400,"message":"员工不存在: id=999"}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46304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demo1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demo2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demo3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新增依赖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核心 starter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+ starter-web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+ mybatis-plus + h2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新增文件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4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+3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+7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IoC+AOP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+ REST 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+ 完整 CRUD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DB33F"/>
                </a:solidFill>
                <a:latin typeface="Microsoft YaHei"/>
              </a:defRPr>
            </a:pPr>
            <a:r>
              <a:t>每个 Starter 添加一种能力。三个依赖、十几个文件，从控制台输出到完整增删改查。核心不是魔法——是约定。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从单体到微服务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为什么需要 Spring Cloud · ~12min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5.1 单体困境 &amp; 5.2 微服务思路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6576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单体架构的问题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• 200 人改一个工程→合并冲突</a:t>
            </a:r>
            <a:br/>
            <a:r>
              <a:t>• 订单扩容→整个系统部署 N 份</a:t>
            </a:r>
            <a:br/>
            <a:r>
              <a:t>• 改一行代码→全站重新部署</a:t>
            </a:r>
            <a:br/>
            <a:r>
              <a:t>• 一个模块挂了→全站崩溃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6576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微服务的答案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02D"/>
                </a:solidFill>
                <a:latin typeface="Microsoft YaHei"/>
              </a:defRPr>
            </a:pPr>
            <a:r>
              <a:t>拆分为几十个小工程。每个独立开发、独立部署、独立扩容。</a:t>
            </a:r>
            <a:br/>
            <a:r>
              <a:t>类比：单体 = 所有人一个大开间</a:t>
            </a:r>
            <a:br/>
            <a:r>
              <a:t>微服务 = 按部门分楼层，各管各的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DB33F"/>
                </a:solidFill>
                <a:latin typeface="Microsoft YaHei"/>
              </a:defRPr>
            </a:pPr>
            <a:r>
              <a:t>但拆分产生新问题——Spring Cloud 来解决。Spring Boot 让一个服务跑起来，Spring Cloud 让一组服务协作。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5.3 拆分后的四个新问题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① 服务发现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订单服务要调用户服务——怎么知道它在哪台机器？写死 IP 则扩容就炸。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② 统一入口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前端要调多个服务——难道记住所有地址？每个服务各自鉴权？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③ 级联故障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用户服务宕机→订单不停重试→订单也挂→全站崩溃。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④ 链路排查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一个请求跨 5 个服务——哪一步慢了？日志分散，拼不出全链路。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Spring Cloud 六大组件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~28min · 贯穿比喻：外卖平台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0292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302D"/>
                </a:solidFill>
                <a:latin typeface="Microsoft YaHei"/>
              </a:defRPr>
            </a:pPr>
            <a:r>
              <a:t>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Nacos 注册中心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302D"/>
                </a:solidFill>
                <a:latin typeface="Microsoft YaHei"/>
              </a:defRPr>
            </a:pPr>
            <a:r>
              <a:t>「配送调度中心」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骑手上线打卡→平台知道谁在线。下单→自动分配空闲骑手。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用户下单→订单服务通知配送服务找骑手。配送服务跑在 3 台机器上，订单服务怎么知道该找哪台？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配送服务启动时向 Nacos 登记地址。订单服务去 Nacos 查询可用实例。宕机自动剔除，新增自动加入。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0292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302D"/>
                </a:solidFill>
                <a:latin typeface="Microsoft YaHei"/>
              </a:defRPr>
            </a:pPr>
            <a:r>
              <a:t>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Gateway 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302D"/>
                </a:solidFill>
                <a:latin typeface="Microsoft YaHei"/>
              </a:defRPr>
            </a:pPr>
            <a:r>
              <a:t>「外卖 App 统一后台」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你不会直接连商家数据库和支付系统——只跟 App 后台交互。Gateway = 统一后台。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App 首页调商家服务、购物车调订单服务、结算调支付服务。让 App 记多个地址？每个服务各自鉴权？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App 只与 Gateway 通信。Gateway 按路径转发到对应服务。鉴权统一完成，没 token 直接拦截。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0292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302D"/>
                </a:solidFill>
                <a:latin typeface="Microsoft YaHei"/>
              </a:defRPr>
            </a:pPr>
            <a:r>
              <a:t>☁️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Nacos Config 配置中心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302D"/>
                </a:solidFill>
                <a:latin typeface="Microsoft YaHei"/>
              </a:defRPr>
            </a:pPr>
            <a:r>
              <a:t>「商家后台改价」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商家后台改菜价→App 立刻显示新价格，用户无需更新 App。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配送费规则调整。订单服务和配送服务都在用。需要改两个配置、重启两个服务。漏改一个线上不一致。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规则统一放配置中心。运营改一次，所有服务自动推送，不重启生效。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0292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302D"/>
                </a:solidFill>
                <a:latin typeface="Microsoft YaHei"/>
              </a:defRPr>
            </a:pPr>
            <a:r>
              <a:t>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Feign 服务调用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302D"/>
                </a:solidFill>
                <a:latin typeface="Microsoft YaHei"/>
              </a:defRPr>
            </a:pPr>
            <a:r>
              <a:t>「一键支付」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App 点微信支付→自动调起微信。不用自己打开微信输金额。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提交订单后依次调用户服务、商家服务、支付服务。每次手写 HTTP 调用十几行，重复数十遍。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声明接口 + @FeignClient 注解 = 自动发 HTTP。像调本地方法一样调远程服务。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0292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302D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Sentinel 熔断降级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302D"/>
                </a:solidFill>
                <a:latin typeface="Microsoft YaHei"/>
              </a:defRPr>
            </a:pPr>
            <a:r>
              <a:t>「故障自动兜底」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一家店停电关门→平台暂时下架，推荐替代店铺。用户不会点进去才发现点不了。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支付服务宕机。订单不停重试→1000 请求阻塞→订单也挂→商家也挂→级联故障全站崩溃。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监控调用成功率。连续失败→熔断（切断）+降级（货到付款）。恢复后自动切回在线支付。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029200" cy="50292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0">
                <a:solidFill>
                  <a:srgbClr val="34302D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DB33F"/>
                </a:solidFill>
                <a:latin typeface="Microsoft YaHei"/>
              </a:defRPr>
            </a:pPr>
            <a:r>
              <a:t>Sleuth/Zipkin 链路追踪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302D"/>
                </a:solidFill>
                <a:latin typeface="Microsoft YaHei"/>
              </a:defRPr>
            </a:pPr>
            <a:r>
              <a:t>「外卖物流追踪」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快递物流：到达分拨中心 10:00，离开 18:00——卡了 8 小时。破案。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用户投诉下单等了 10 秒。请求跨 5 个服务——哪个环节耗时过长？日志分散，拼不出全链路。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解法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302D"/>
                </a:solidFill>
                <a:latin typeface="Microsoft YaHei"/>
              </a:defRPr>
            </a:pPr>
            <a:r>
              <a:t>每个请求分配全局唯一 TraceID（快递单号），在服务间传递。Zipkin 拼接完整调用树，每步耗时可见。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6.7 六大组件速查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743200"/>
                <a:gridCol w="365760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外卖场景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骑手上线打卡，平台自动分配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Nacos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配送调度中心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App 统一后台，不管后面几个服务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外卖 App 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商家改配送费，App 立刻生效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Nacos 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商家后台改价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一键支付，不用自己打开微信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Feign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一键支付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支付宕机，自动切换货到付款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Sentinel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故障自动兜底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下单慢了，看哪个环节卡顿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Sleuth/Zipkin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外卖物流追踪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产品视角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微服务不是免费的午餐 · ~8min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7.1 代价 &amp; 7.2 拆分前三问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独立部署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运维复杂度 × N。日志、监控、部署流水线从 1 变 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独立扩容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分布式事务复杂度增加。原来一个事务→需协调多个服务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团队自治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网络调用引入延迟。本地调用 1ms→HTTP 调用 10ms 起步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① 有独立的业务边界吗？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不是功能多就该拆。订单和订单详情属同一边界，拆分增加耦合。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② 需要独立扩容吗？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双十一仅订单要加机器——才值得拆。没有独立扩容需求的模块，拆分没核心收益。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DB33F"/>
                </a:solidFill>
                <a:latin typeface="Microsoft YaHei"/>
              </a:defRPr>
            </a:pPr>
            <a:r>
              <a:t>③ 有独立团队维护吗？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126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Microsoft YaHei"/>
              </a:defRPr>
            </a:pPr>
            <a:r>
              <a:t>一个团队管 3 个微服务 = 分布式单体，比单体更复杂却没得到好处。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DB33F"/>
                </a:solidFill>
                <a:latin typeface="Microsoft YaHei"/>
              </a:defRPr>
            </a:pPr>
            <a:r>
              <a:t>每拆分一个服务，运维成本就增加一份。拆分之前，先回答这三个问题。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6DB33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课程总结 +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~10min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今天的内容 &amp; 三个关键结论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</a:t>
                      </a:r>
                    </a:p>
                  </a:txBody>
                  <a:tcPr>
                    <a:solidFill>
                      <a:srgbClr val="6DB3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Spring Boot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自动挡。约定大于配置。上节课学的全部有效，只是不需要 XML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三阶段实战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demo1(IoC/AOP) → demo2(Web+承上启下) → demo3(数据+CRUD)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Spring Cloud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302D"/>
                          </a:solidFill>
                          <a:latin typeface="Microsoft YaHei"/>
                        </a:defRPr>
                      </a:pPr>
                      <a:r>
                        <a:t>六大组件——六个外卖平台场景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474720"/>
            <a:ext cx="34747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4302D"/>
                </a:solidFill>
                <a:latin typeface="Microsoft YaHei"/>
              </a:defRPr>
            </a:pPr>
            <a: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302D"/>
                </a:solidFill>
                <a:latin typeface="Microsoft YaHei"/>
              </a:defRPr>
            </a:pPr>
            <a:r>
              <a:t>Spring Boot 是自动挡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@Controller 照用，web.xml 不用了</a:t>
            </a:r>
            <a:br/>
            <a:r>
              <a:t>一个注解替代三个 XML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474720"/>
            <a:ext cx="34747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3657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4302D"/>
                </a:solidFill>
                <a:latin typeface="Microsoft YaHei"/>
              </a:defRPr>
            </a:pPr>
            <a: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302D"/>
                </a:solidFill>
                <a:latin typeface="Microsoft YaHei"/>
              </a:defRPr>
            </a:pPr>
            <a:r>
              <a:t>Starter 加一种能力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加依赖即获得能力，约定已做好配置</a:t>
            </a:r>
            <a:br/>
            <a:r>
              <a:t>demo1→demo2→demo3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474720"/>
            <a:ext cx="347472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6576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4302D"/>
                </a:solidFill>
                <a:latin typeface="Microsoft YaHei"/>
              </a:defRPr>
            </a:pPr>
            <a:r>
              <a:t>🏗️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389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302D"/>
                </a:solidFill>
                <a:latin typeface="Microsoft YaHei"/>
              </a:defRPr>
            </a:pPr>
            <a:r>
              <a:t>Cloud 六道保险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937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配送调度·统一后台·配置改价</a:t>
            </a:r>
            <a:br/>
            <a:r>
              <a:t>一键支付·故障兜底·物流追踪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302D"/>
                </a:solidFill>
                <a:latin typeface="Microsoft YaHei"/>
              </a:defRPr>
            </a:pPr>
            <a:r>
              <a:t>课后资料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051560"/>
            <a:ext cx="1097280" cy="4572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302D"/>
                </a:solidFill>
                <a:latin typeface="Microsoft YaHei"/>
              </a:defRPr>
            </a:pPr>
            <a:r>
              <a:t>Demo 源码：demo1-initializer/  demo2-web/  demo3-data/</a:t>
            </a:r>
            <a:br/>
            <a:r>
              <a:t>启动命令：cd demoX &amp;&amp; mvn spring-boot:run</a:t>
            </a:r>
            <a:br/>
            <a:r>
              <a:t>大纲与逐字稿：docs/springboot-teaching-outline.md</a:t>
            </a:r>
            <a:br/>
            <a:r>
              <a:t>Spring Initializr：https://start.spring.io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有什么问题？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