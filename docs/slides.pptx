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Microsoft YaHei"/>
              </a:defRPr>
            </a:pPr>
            <a:r>
              <a:t>Spring Boot + Spring Cloud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CCCCCC"/>
                </a:solidFill>
                <a:latin typeface="Microsoft YaHei"/>
              </a:defRPr>
            </a:pPr>
            <a:r>
              <a:t>产品团队技术培训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9319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6DB33F"/>
                </a:solidFill>
                <a:latin typeface="Microsoft YaHei"/>
              </a:defRPr>
            </a:pPr>
            <a:r>
              <a:t>Spring Boot 3.x  ·  MyBatis Plus  ·  Spring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0292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888888"/>
                </a:solidFill>
                <a:latin typeface="Microsoft YaHei"/>
              </a:defRPr>
            </a:pPr>
            <a:r>
              <a:t>~2h35min  ·  上半场实操 + 下半场理论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34302D"/>
                </a:solidFill>
                <a:latin typeface="Microsoft YaHei"/>
              </a:defRPr>
            </a:pPr>
            <a:r>
              <a:t>📋 今天讲什么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097280" cy="45720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029200" cy="411480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B33F"/>
                </a:solidFill>
                <a:latin typeface="Microsoft YaHei"/>
              </a:defRPr>
            </a:pPr>
            <a:r>
              <a:t>🛠️ 上半场：Spring Boot 实操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65176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4302D"/>
                </a:solidFill>
                <a:latin typeface="Microsoft YaHei"/>
              </a:defRPr>
            </a:pPr>
            <a:r>
              <a:t>演进之路 → 核心机制 → 项目结构</a:t>
            </a:r>
            <a:br/>
            <a:r>
              <a:t>→ MyBatis Plus → 配置管理</a:t>
            </a:r>
            <a:br/>
            <a:r>
              <a:t>→ 统一响应 → AI 实战 → Demo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754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Microsoft YaHei"/>
              </a:defRPr>
            </a:pPr>
            <a:r>
              <a:t>~100 min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45920"/>
            <a:ext cx="5029200" cy="411480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B33F"/>
                </a:solidFill>
                <a:latin typeface="Microsoft YaHei"/>
              </a:defRPr>
            </a:pPr>
            <a:r>
              <a:t>☁️ 下半场：Spring Cloud 理论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65176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4302D"/>
                </a:solidFill>
                <a:latin typeface="Microsoft YaHei"/>
              </a:defRPr>
            </a:pPr>
            <a:r>
              <a:t>为什么微服务 → 六大组件</a:t>
            </a:r>
            <a:br/>
            <a:r>
              <a:t>→ 产品视角 → 总结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4754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Microsoft YaHei"/>
              </a:defRPr>
            </a:pPr>
            <a:r>
              <a:t>~58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600" b="1">
                <a:solidFill>
                  <a:srgbClr val="6DB33F"/>
                </a:solidFill>
                <a:latin typeface="Microsoft YaHei"/>
              </a:defRPr>
            </a:pPr>
            <a: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从 Spring MVC 到 Spring Boot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AAAAAA"/>
                </a:solidFill>
                <a:latin typeface="Microsoft YaHei"/>
              </a:defRPr>
            </a:pPr>
            <a:r>
              <a:t>演进之路 · ~15min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926080"/>
            <a:ext cx="1371600" cy="54864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34302D"/>
                </a:solidFill>
                <a:latin typeface="Microsoft YaHei"/>
              </a:defRPr>
            </a:pPr>
            <a:r>
              <a:t>传统 Spring 开发有多痛？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097280" cy="45720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029200" cy="4754880"/>
          </a:xfrm>
          <a:prstGeom prst="roundRect">
            <a:avLst/>
          </a:prstGeom>
          <a:solidFill>
            <a:srgbClr val="FFF5F5"/>
          </a:solidFill>
          <a:ln w="254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74C3C"/>
                </a:solidFill>
                <a:latin typeface="Microsoft YaHei"/>
              </a:defRPr>
            </a:pPr>
            <a:r>
              <a:t>😫 四大痛点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286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4302D"/>
                </a:solidFill>
                <a:latin typeface="Microsoft YaHei"/>
              </a:defRPr>
            </a:pPr>
            <a:r>
              <a:t>• 配置地狱：web.xml + applicationContext.xml + spring-mvc.xml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34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4302D"/>
                </a:solidFill>
                <a:latin typeface="Microsoft YaHei"/>
              </a:defRPr>
            </a:pPr>
            <a:r>
              <a:t>• 依赖管理：6~8 个依赖，版本自己对齐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383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4302D"/>
                </a:solidFill>
                <a:latin typeface="Microsoft YaHei"/>
              </a:defRPr>
            </a:pPr>
            <a:r>
              <a:t>• 部署麻烦：装 Tomcat → 打 WAR → 丢 webapps → 重启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931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4302D"/>
                </a:solidFill>
                <a:latin typeface="Microsoft YaHei"/>
              </a:defRPr>
            </a:pPr>
            <a:r>
              <a:t>• 启动慢：搭环境半天起步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1463040"/>
            <a:ext cx="5029200" cy="47548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1645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B33F"/>
                </a:solidFill>
                <a:latin typeface="Microsoft YaHei"/>
              </a:defRPr>
            </a:pPr>
            <a:r>
              <a:t>💀 还没写代码…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2860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4302D"/>
                </a:solidFill>
                <a:latin typeface="Microsoft YaHei"/>
              </a:defRPr>
            </a:pPr>
            <a:r>
              <a:t>• 1. web.xml (至少30行XML)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8346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4302D"/>
                </a:solidFill>
                <a:latin typeface="Microsoft YaHei"/>
              </a:defRPr>
            </a:pPr>
            <a:r>
              <a:t>• 2. applicationContext.xml (至少20行XML)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3383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4302D"/>
                </a:solidFill>
                <a:latin typeface="Microsoft YaHei"/>
              </a:defRPr>
            </a:pPr>
            <a:r>
              <a:t>• 3. spring-mvc.xml (至少30行XML)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931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4302D"/>
                </a:solidFill>
                <a:latin typeface="Microsoft YaHei"/>
              </a:defRPr>
            </a:pPr>
            <a:r>
              <a:t>• 4. 配置数据源、事务管理器...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4805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4302D"/>
                </a:solidFill>
                <a:latin typeface="Microsoft YaHei"/>
              </a:defRPr>
            </a:pPr>
            <a:r>
              <a:t>• 5. 安装 Tomcat → 6. 打WAR → 7. 部署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50292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4302D"/>
                </a:solidFill>
                <a:latin typeface="Microsoft YaHei"/>
              </a:defRPr>
            </a:pPr>
            <a:r>
              <a:t>• → 一行业务代码还没写，100+ 行 XML 先写出来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34302D"/>
                </a:solidFill>
                <a:latin typeface="Microsoft YaHei"/>
              </a:defRPr>
            </a:pPr>
            <a:r>
              <a:t>💡 Spring Boot 的答案：约定大于配置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097280" cy="45720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515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14800"/>
                <a:gridCol w="3657600"/>
              </a:tblGrid>
              <a:tr h="8001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你的动作</a:t>
                      </a:r>
                    </a:p>
                  </a:txBody>
                  <a:tcPr>
                    <a:solidFill>
                      <a:srgbClr val="6DB3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Spring Boot 的约定（理解）</a:t>
                      </a:r>
                    </a:p>
                  </a:txBody>
                  <a:tcPr>
                    <a:solidFill>
                      <a:srgbClr val="6DB3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省掉了什么（价值）</a:t>
                      </a:r>
                    </a:p>
                  </a:txBody>
                  <a:tcPr>
                    <a:solidFill>
                      <a:srgbClr val="6DB33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引入 spring-webmvc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"你要用 Spring MVC" → 自动配 DispatcherServlet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web.xml + spring-mvc.xml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继承 BaseMapper&lt;Employee&gt;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"你要 CRUD 这个表" → 自动生成 SQL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百行 XML 映射文件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引入 starter-web + 不配端口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"默认 8080，内嵌 Tomcat"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装 Tomcat、配端口、打 WAR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5486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6DB33F"/>
                </a:solidFill>
                <a:latin typeface="Microsoft YaHei"/>
              </a:defRPr>
            </a:pPr>
            <a:r>
              <a:t>把"每次都要写的东西"变成"默认就有的东西"。想改可以改，不改就能用。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302D"/>
                </a:solidFill>
                <a:latin typeface="Microsoft YaHei"/>
              </a:defRPr>
            </a:pPr>
            <a:r>
              <a:t>🔧 Spring Initializr — 30秒生成项目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B33F"/>
                </a:solidFill>
                <a:latin typeface="Microsoft YaHei"/>
              </a:defRPr>
            </a:pPr>
            <a:r>
              <a:t>🌐 网址：start.spring.io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2194560"/>
          <a:ext cx="10515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3657600"/>
                <a:gridCol w="5486400"/>
              </a:tblGrid>
              <a:tr h="48768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步骤</a:t>
                      </a:r>
                    </a:p>
                  </a:txBody>
                  <a:tcPr>
                    <a:solidFill>
                      <a:srgbClr val="6DB3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操作</a:t>
                      </a:r>
                    </a:p>
                  </a:txBody>
                  <a:tcPr>
                    <a:solidFill>
                      <a:srgbClr val="6DB3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填什么</a:t>
                      </a:r>
                    </a:p>
                  </a:txBody>
                  <a:tcPr>
                    <a:solidFill>
                      <a:srgbClr val="6DB33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打开网页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start.spring.io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构建工具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Maven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语言 &amp; 版本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Java 21 + Spring Boot 3.3.x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项目坐标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Group: com.example / Artifact: my-first-boot-app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加依赖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Spring Web + Lombok + H2 Database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486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6DB33F"/>
                </a:solidFill>
                <a:latin typeface="Microsoft YaHei"/>
              </a:defRPr>
            </a:pPr>
            <a:r>
              <a:t>点「Generate」→ 下载 zip → 解压 → 直接能跑（传统半小时 vs 现在30秒）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600" b="1">
                <a:solidFill>
                  <a:srgbClr val="6DB33F"/>
                </a:solidFill>
                <a:latin typeface="Microsoft YaHei"/>
              </a:defRPr>
            </a:pPr>
            <a: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Spring Boot 核心机制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AAAAAA"/>
                </a:solidFill>
                <a:latin typeface="Microsoft YaHei"/>
              </a:defRPr>
            </a:pPr>
            <a:r>
              <a:t>自动配置 · Starter · 条件装配 · ~12min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926080"/>
            <a:ext cx="1371600" cy="54864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302D"/>
                </a:solidFill>
                <a:latin typeface="Microsoft YaHei"/>
              </a:defRPr>
            </a:pPr>
            <a:r>
              <a:t>🎯 一个注解 = 三件事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515600" cy="1371600"/>
          </a:xfrm>
          <a:prstGeom prst="roundRect">
            <a:avLst/>
          </a:prstGeom>
          <a:solidFill>
            <a:srgbClr val="272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200"/>
              </a:spcAft>
              <a:defRPr sz="1100">
                <a:solidFill>
                  <a:srgbClr val="E6DB74"/>
                </a:solidFill>
                <a:latin typeface="Courier New"/>
              </a:defRPr>
            </a:pPr>
            <a:r>
              <a:t>@SpringBootApplication  // ← 三合一注解</a:t>
            </a:r>
          </a:p>
          <a:p>
            <a:pPr>
              <a:spcAft>
                <a:spcPts val="200"/>
              </a:spcAft>
              <a:defRPr sz="1100">
                <a:solidFill>
                  <a:srgbClr val="E6DB74"/>
                </a:solidFill>
                <a:latin typeface="Courier New"/>
              </a:defRPr>
            </a:pPr>
            <a:r>
              <a:t>public class DemoApplication {</a:t>
            </a:r>
          </a:p>
          <a:p>
            <a:pPr>
              <a:spcAft>
                <a:spcPts val="200"/>
              </a:spcAft>
              <a:defRPr sz="1100">
                <a:solidFill>
                  <a:srgbClr val="E6DB74"/>
                </a:solidFill>
                <a:latin typeface="Courier New"/>
              </a:defRPr>
            </a:pPr>
            <a:r>
              <a:t>    public static void main(String[] args) {</a:t>
            </a:r>
          </a:p>
          <a:p>
            <a:pPr>
              <a:spcAft>
                <a:spcPts val="200"/>
              </a:spcAft>
              <a:defRPr sz="1100">
                <a:solidFill>
                  <a:srgbClr val="E6DB74"/>
                </a:solidFill>
                <a:latin typeface="Courier New"/>
              </a:defRPr>
            </a:pPr>
            <a:r>
              <a:t>        SpringApplication.run(DemoApplication.class, args);</a:t>
            </a:r>
          </a:p>
          <a:p>
            <a:pPr>
              <a:spcAft>
                <a:spcPts val="200"/>
              </a:spcAft>
              <a:defRPr sz="1100">
                <a:solidFill>
                  <a:srgbClr val="E6DB74"/>
                </a:solidFill>
                <a:latin typeface="Courier New"/>
              </a:defRPr>
            </a:pPr>
            <a:r>
              <a:t>    }</a:t>
            </a:r>
          </a:p>
          <a:p>
            <a:pPr>
              <a:spcAft>
                <a:spcPts val="200"/>
              </a:spcAft>
              <a:defRPr sz="1100">
                <a:solidFill>
                  <a:srgbClr val="E6DB74"/>
                </a:solidFill>
                <a:latin typeface="Courier New"/>
              </a:defRPr>
            </a:pPr>
            <a:r>
              <a:t>}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3200400"/>
          <a:ext cx="10515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4114800"/>
                <a:gridCol w="2743200"/>
              </a:tblGrid>
              <a:tr h="57150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注解</a:t>
                      </a:r>
                    </a:p>
                  </a:txBody>
                  <a:tcPr>
                    <a:solidFill>
                      <a:srgbClr val="6DB3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作用</a:t>
                      </a:r>
                    </a:p>
                  </a:txBody>
                  <a:tcPr>
                    <a:solidFill>
                      <a:srgbClr val="6DB33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学过？</a:t>
                      </a:r>
                    </a:p>
                  </a:txBody>
                  <a:tcPr>
                    <a:solidFill>
                      <a:srgbClr val="6DB33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@Configuration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可以定义 Bean，标记配置类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✅ 学过的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@ComponentScan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扫描当前包及子包下所有组件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✅ 学过的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@EnableAutoConfiguration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自动配置——Spring Boot 的灵魂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4302D"/>
                          </a:solidFill>
                          <a:latin typeface="Microsoft YaHei"/>
                        </a:defRPr>
                      </a:pPr>
                      <a:r>
                        <a:t>🆕 新东西！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302D"/>
                </a:solidFill>
                <a:latin typeface="Microsoft YaHei"/>
              </a:defRPr>
            </a:pPr>
            <a:r>
              <a:t>🏠 精装修 vs 毛坯房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74C3C"/>
                </a:solidFill>
                <a:latin typeface="Microsoft YaHei"/>
              </a:defRPr>
            </a:pPr>
            <a:r>
              <a:t>传统 Spring = 毛坯房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73736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4302D"/>
                </a:solidFill>
                <a:latin typeface="Microsoft YaHei"/>
              </a:defRPr>
            </a:pPr>
            <a:r>
              <a:t>墙自己刷</a:t>
            </a:r>
            <a:br/>
            <a:r>
              <a:t>电线自己铺</a:t>
            </a:r>
            <a:br/>
            <a:r>
              <a:t>地板自己装</a:t>
            </a:r>
            <a:br/>
            <a:br/>
            <a:r>
              <a:t>好处：想怎么装怎么装</a:t>
            </a:r>
            <a:br/>
            <a:r>
              <a:t>坏处：累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0" y="1097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B33F"/>
                </a:solidFill>
                <a:latin typeface="Microsoft YaHei"/>
              </a:defRPr>
            </a:pPr>
            <a:r>
              <a:t>Spring Boot = 精装修公寓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173736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4302D"/>
                </a:solidFill>
                <a:latin typeface="Microsoft YaHei"/>
              </a:defRPr>
            </a:pPr>
            <a:r>
              <a:t>墙刷好了</a:t>
            </a:r>
            <a:br/>
            <a:r>
              <a:t>空调装了</a:t>
            </a:r>
            <a:br/>
            <a:r>
              <a:t>热水器接了</a:t>
            </a:r>
            <a:br/>
            <a:br/>
            <a:r>
              <a:t>拎包入住</a:t>
            </a:r>
            <a:br/>
            <a:r>
              <a:t>不满意可以改——你的配置优先级更高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34302D"/>
                </a:solidFill>
                <a:latin typeface="Microsoft YaHei"/>
              </a:defRPr>
            </a:pP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097280" cy="45720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029200" cy="4754880"/>
          </a:xfrm>
          <a:prstGeom prst="roundRect">
            <a:avLst/>
          </a:prstGeom>
          <a:solidFill>
            <a:srgbClr val="FFF5F5"/>
          </a:solidFill>
          <a:ln w="254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74C3C"/>
                </a:solidFill>
                <a:latin typeface="Microsoft YaHei"/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6400800" y="1463040"/>
            <a:ext cx="5029200" cy="475488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16459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B33F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600" b="1">
                <a:solidFill>
                  <a:srgbClr val="6DB33F"/>
                </a:solidFill>
                <a:latin typeface="Microsoft YaHei"/>
              </a:defRPr>
            </a:pPr>
            <a: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Spring Boot 项目结构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AAAAAA"/>
                </a:solidFill>
                <a:latin typeface="Microsoft YaHei"/>
              </a:defRPr>
            </a:pPr>
            <a:r>
              <a:t>什么没了？什么没变？ · ~5min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926080"/>
            <a:ext cx="1371600" cy="54864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302D"/>
                </a:solidFill>
                <a:latin typeface="Microsoft YaHei"/>
              </a:defRPr>
            </a:pPr>
            <a:r>
              <a:t>🔍 找茬——什么没了？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5029200" cy="4114800"/>
          </a:xfrm>
          <a:prstGeom prst="roundRect">
            <a:avLst/>
          </a:prstGeom>
          <a:solidFill>
            <a:srgbClr val="FFF5F5"/>
          </a:solidFill>
          <a:ln w="2540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737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74C3C"/>
                </a:solidFill>
                <a:latin typeface="Microsoft YaHei"/>
              </a:defRPr>
            </a:pPr>
            <a:r>
              <a:t>❌ 传统 Spring MVC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7744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4302D"/>
                </a:solidFill>
                <a:latin typeface="Microsoft YaHei"/>
              </a:defRPr>
            </a:pPr>
            <a:r>
              <a:t>webapp/WEB-INF/web.xml</a:t>
            </a:r>
            <a:br/>
            <a:r>
              <a:t>applicationContext.xml</a:t>
            </a:r>
            <a:br/>
            <a:r>
              <a:t>spring-mvc.xml</a:t>
            </a:r>
            <a:br/>
            <a:br/>
            <a:r>
              <a:t>3 个 XML 配置文件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63040"/>
            <a:ext cx="5029200" cy="411480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17373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6DB33F"/>
                </a:solidFill>
                <a:latin typeface="Microsoft YaHei"/>
              </a:defRPr>
            </a:pPr>
            <a:r>
              <a:t>✅ Spring Boot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237744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4302D"/>
                </a:solidFill>
                <a:latin typeface="Microsoft YaHei"/>
              </a:defRPr>
            </a:pPr>
            <a:r>
              <a:t>DemoApplication.java</a:t>
            </a:r>
            <a:br/>
            <a:r>
              <a:t>application.yml</a:t>
            </a:r>
            <a:br/>
            <a:br/>
            <a:r>
              <a:t>1 个启动类 + 1 个 YAML</a:t>
            </a:r>
            <a:br/>
            <a:r>
              <a:t>内嵌 Tomcat，java -jar 直接跑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5943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4302D"/>
                </a:solidFill>
                <a:latin typeface="Microsoft YaHei"/>
              </a:defRPr>
            </a:pPr>
            <a:r>
              <a:t>分层架构不变：controller/ → service/ → mapper/ → entity/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600" b="1">
                <a:solidFill>
                  <a:srgbClr val="6DB33F"/>
                </a:solidFill>
                <a:latin typeface="Microsoft YaHei"/>
              </a:defRPr>
            </a:pPr>
            <a: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MyBatis Plus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AAAAAA"/>
                </a:solidFill>
                <a:latin typeface="Microsoft YaHei"/>
              </a:defRPr>
            </a:pPr>
            <a:r>
              <a:t>数据访问层的"自动挡" · ~15min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926080"/>
            <a:ext cx="1371600" cy="54864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302D"/>
                </a:solidFill>
                <a:latin typeface="Microsoft YaHei"/>
              </a:defRPr>
            </a:pPr>
            <a:r>
              <a:t>🎁 继承即拥有 — 空接口 = 全套 CRUD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10515600" cy="2560320"/>
          </a:xfrm>
          <a:prstGeom prst="roundRect">
            <a:avLst/>
          </a:prstGeom>
          <a:solidFill>
            <a:srgbClr val="272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200"/>
              </a:spcAft>
              <a:defRPr sz="1100">
                <a:solidFill>
                  <a:srgbClr val="E6DB74"/>
                </a:solidFill>
                <a:latin typeface="Courier New"/>
              </a:defRPr>
            </a:pPr>
            <a:r>
              <a:t>// Entity: 一个类对应一张表</a:t>
            </a:r>
          </a:p>
          <a:p>
            <a:pPr>
              <a:spcAft>
                <a:spcPts val="200"/>
              </a:spcAft>
              <a:defRPr sz="1100">
                <a:solidFill>
                  <a:srgbClr val="E6DB74"/>
                </a:solidFill>
                <a:latin typeface="Courier New"/>
              </a:defRPr>
            </a:pPr>
            <a:r>
              <a:t>@Data @TableName("employee")</a:t>
            </a:r>
          </a:p>
          <a:p>
            <a:pPr>
              <a:spcAft>
                <a:spcPts val="200"/>
              </a:spcAft>
              <a:defRPr sz="1100">
                <a:solidFill>
                  <a:srgbClr val="E6DB74"/>
                </a:solidFill>
                <a:latin typeface="Courier New"/>
              </a:defRPr>
            </a:pPr>
            <a:r>
              <a:t>public class Employee {</a:t>
            </a:r>
          </a:p>
          <a:p>
            <a:pPr>
              <a:spcAft>
                <a:spcPts val="200"/>
              </a:spcAft>
              <a:defRPr sz="1100">
                <a:solidFill>
                  <a:srgbClr val="E6DB74"/>
                </a:solidFill>
                <a:latin typeface="Courier New"/>
              </a:defRPr>
            </a:pPr>
            <a:r>
              <a:t>    @TableId(type = IdType.AUTO) private Long id;</a:t>
            </a:r>
          </a:p>
          <a:p>
            <a:pPr>
              <a:spcAft>
                <a:spcPts val="200"/>
              </a:spcAft>
              <a:defRPr sz="1100">
                <a:solidFill>
                  <a:srgbClr val="E6DB74"/>
                </a:solidFill>
                <a:latin typeface="Courier New"/>
              </a:defRPr>
            </a:pPr>
            <a:r>
              <a:t>    private String name; private Integer age; private String email;</a:t>
            </a:r>
          </a:p>
          <a:p>
            <a:pPr>
              <a:spcAft>
                <a:spcPts val="200"/>
              </a:spcAft>
              <a:defRPr sz="1100">
                <a:solidFill>
                  <a:srgbClr val="E6DB74"/>
                </a:solidFill>
                <a:latin typeface="Courier New"/>
              </a:defRPr>
            </a:pPr>
            <a:r>
              <a:t>}</a:t>
            </a:r>
          </a:p>
          <a:p>
            <a:pPr>
              <a:spcAft>
                <a:spcPts val="200"/>
              </a:spcAft>
              <a:defRPr sz="1100">
                <a:solidFill>
                  <a:srgbClr val="E6DB74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E6DB74"/>
                </a:solidFill>
                <a:latin typeface="Courier New"/>
              </a:defRPr>
            </a:pPr>
            <a:r>
              <a:t>// Mapper: 继承 BaseMapper，自动获得 CRUD！</a:t>
            </a:r>
          </a:p>
          <a:p>
            <a:pPr>
              <a:spcAft>
                <a:spcPts val="200"/>
              </a:spcAft>
              <a:defRPr sz="1100">
                <a:solidFill>
                  <a:srgbClr val="E6DB74"/>
                </a:solidFill>
                <a:latin typeface="Courier New"/>
              </a:defRPr>
            </a:pPr>
            <a:r>
              <a:t>@Mapper</a:t>
            </a:r>
          </a:p>
          <a:p>
            <a:pPr>
              <a:spcAft>
                <a:spcPts val="200"/>
              </a:spcAft>
              <a:defRPr sz="1100">
                <a:solidFill>
                  <a:srgbClr val="E6DB74"/>
                </a:solidFill>
                <a:latin typeface="Courier New"/>
              </a:defRPr>
            </a:pPr>
            <a:r>
              <a:t>public interface EmployeeMapper extends BaseMapper&lt;Employee&gt; {</a:t>
            </a:r>
          </a:p>
          <a:p>
            <a:pPr>
              <a:spcAft>
                <a:spcPts val="200"/>
              </a:spcAft>
              <a:defRPr sz="1100">
                <a:solidFill>
                  <a:srgbClr val="E6DB74"/>
                </a:solidFill>
                <a:latin typeface="Courier New"/>
              </a:defRPr>
            </a:pPr>
            <a:r>
              <a:t>    // 空接口！但拥有 insert/deleteById/updateById/selectById/</a:t>
            </a:r>
          </a:p>
          <a:p>
            <a:pPr>
              <a:spcAft>
                <a:spcPts val="200"/>
              </a:spcAft>
              <a:defRPr sz="1100">
                <a:solidFill>
                  <a:srgbClr val="E6DB74"/>
                </a:solidFill>
                <a:latin typeface="Courier New"/>
              </a:defRPr>
            </a:pPr>
            <a:r>
              <a:t>    //            selectList/selectPage... 十几种方法</a:t>
            </a:r>
          </a:p>
          <a:p>
            <a:pPr>
              <a:spcAft>
                <a:spcPts val="200"/>
              </a:spcAft>
              <a:defRPr sz="1100">
                <a:solidFill>
                  <a:srgbClr val="E6DB74"/>
                </a:solidFill>
                <a:latin typeface="Courier New"/>
              </a:defRPr>
            </a:pPr>
            <a: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6DB33F"/>
                </a:solidFill>
                <a:latin typeface="Microsoft YaHei"/>
              </a:defRPr>
            </a:pPr>
            <a:r>
              <a:t>一张新表 = 一个空接口继承 BaseMapper。完事。</a:t>
            </a:r>
            <a:br/>
            <a:r>
              <a:t>—— MyBatis Plus 的哲学跟 Spring Boot 一模一样：约定大于配置。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302D"/>
                </a:solidFill>
                <a:latin typeface="Microsoft YaHei"/>
              </a:defRPr>
            </a:pPr>
            <a:r>
              <a:t>🔗 LambdaQueryWrapper — 不写 SQL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10515600" cy="2286000"/>
          </a:xfrm>
          <a:prstGeom prst="roundRect">
            <a:avLst/>
          </a:prstGeom>
          <a:solidFill>
            <a:srgbClr val="272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200"/>
              </a:spcAft>
              <a:defRPr sz="1100">
                <a:solidFill>
                  <a:srgbClr val="E6DB74"/>
                </a:solidFill>
                <a:latin typeface="Courier New"/>
              </a:defRPr>
            </a:pPr>
            <a:r>
              <a:t>LambdaQueryWrapper&lt;Employee&gt; wrapper = new LambdaQueryWrapper&lt;&gt;();</a:t>
            </a:r>
          </a:p>
          <a:p>
            <a:pPr>
              <a:spcAft>
                <a:spcPts val="200"/>
              </a:spcAft>
              <a:defRPr sz="1100">
                <a:solidFill>
                  <a:srgbClr val="E6DB74"/>
                </a:solidFill>
                <a:latin typeface="Courier New"/>
              </a:defRPr>
            </a:pPr>
            <a:r>
              <a:t>wrapper.eq(Employee::getName, "张三")    // WHERE name = '张三'</a:t>
            </a:r>
          </a:p>
          <a:p>
            <a:pPr>
              <a:spcAft>
                <a:spcPts val="200"/>
              </a:spcAft>
              <a:defRPr sz="1100">
                <a:solidFill>
                  <a:srgbClr val="E6DB74"/>
                </a:solidFill>
                <a:latin typeface="Courier New"/>
              </a:defRPr>
            </a:pPr>
            <a:r>
              <a:t>       .gt(Employee::getAge, 25)         // AND age &gt; 25</a:t>
            </a:r>
          </a:p>
          <a:p>
            <a:pPr>
              <a:spcAft>
                <a:spcPts val="200"/>
              </a:spcAft>
              <a:defRPr sz="1100">
                <a:solidFill>
                  <a:srgbClr val="E6DB74"/>
                </a:solidFill>
                <a:latin typeface="Courier New"/>
              </a:defRPr>
            </a:pPr>
            <a:r>
              <a:t>       .orderByDesc(Employee::getId);    // ORDER BY id DESC</a:t>
            </a:r>
          </a:p>
          <a:p>
            <a:pPr>
              <a:spcAft>
                <a:spcPts val="200"/>
              </a:spcAft>
              <a:defRPr sz="1100">
                <a:solidFill>
                  <a:srgbClr val="E6DB74"/>
                </a:solidFill>
                <a:latin typeface="Courier New"/>
              </a:defRPr>
            </a:pPr>
            <a:r>
              <a:t>employeeMapper.selectList(wrapper);</a:t>
            </a:r>
          </a:p>
          <a:p>
            <a:pPr>
              <a:spcAft>
                <a:spcPts val="200"/>
              </a:spcAft>
              <a:defRPr sz="1100">
                <a:solidFill>
                  <a:srgbClr val="E6DB74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E6DB74"/>
                </a:solidFill>
                <a:latin typeface="Courier New"/>
              </a:defRPr>
            </a:pPr>
            <a:r>
              <a:t>// 分页 —— 一行搞定</a:t>
            </a:r>
          </a:p>
          <a:p>
            <a:pPr>
              <a:spcAft>
                <a:spcPts val="200"/>
              </a:spcAft>
              <a:defRPr sz="1100">
                <a:solidFill>
                  <a:srgbClr val="E6DB74"/>
                </a:solidFill>
                <a:latin typeface="Courier New"/>
              </a:defRPr>
            </a:pPr>
            <a:r>
              <a:t>Page&lt;Employee&gt; page = new Page&lt;&gt;(1, 10);</a:t>
            </a:r>
          </a:p>
          <a:p>
            <a:pPr>
              <a:spcAft>
                <a:spcPts val="200"/>
              </a:spcAft>
              <a:defRPr sz="1100">
                <a:solidFill>
                  <a:srgbClr val="E6DB74"/>
                </a:solidFill>
                <a:latin typeface="Courier New"/>
              </a:defRPr>
            </a:pPr>
            <a:r>
              <a:t>employeeMapper.selectPage(page, wrapper);</a:t>
            </a:r>
          </a:p>
          <a:p>
            <a:pPr>
              <a:spcAft>
                <a:spcPts val="200"/>
              </a:spcAft>
              <a:defRPr sz="1100">
                <a:solidFill>
                  <a:srgbClr val="E6DB74"/>
                </a:solidFill>
                <a:latin typeface="Courier New"/>
              </a:defRPr>
            </a:pPr>
            <a:r>
              <a:t>// 自动返回：records、total、current、pages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4302D"/>
                </a:solidFill>
                <a:latin typeface="Microsoft YaHei"/>
              </a:defRPr>
            </a:pPr>
            <a:r>
              <a:t>字段写错了？编译器直接报错——不是运行时炸。</a:t>
            </a:r>
            <a:br/>
            <a:r>
              <a:t>演进路径：JDBC 手写 → MyBatis 半自动 → MyBatis Plus 更自动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600" b="1">
                <a:solidFill>
                  <a:srgbClr val="6DB33F"/>
                </a:solidFill>
                <a:latin typeface="Microsoft YaHei"/>
              </a:defRPr>
            </a:pPr>
            <a: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配置管理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AAAAAA"/>
                </a:solidFill>
                <a:latin typeface="Microsoft YaHei"/>
              </a:defRPr>
            </a:pPr>
            <a:r>
              <a:t>从 XML 到 YAML · ~5min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926080"/>
            <a:ext cx="1371600" cy="54864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302D"/>
                </a:solidFill>
                <a:latin typeface="Microsoft YaHei"/>
              </a:defRPr>
            </a:pPr>
            <a:r>
              <a:t>📉 21 行 XML → 5 行 YAML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4572000" cy="3200400"/>
          </a:xfrm>
          <a:prstGeom prst="roundRect">
            <a:avLst/>
          </a:prstGeom>
          <a:solidFill>
            <a:srgbClr val="272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&lt;!-- 传统 XML: 21行 --&gt;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&lt;bean id="dataSource"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  class="...BasicDataSource"&gt;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&lt;property name="driverClassName"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        value="com.mysql.cj..."/&gt;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&lt;property name="url"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        value="jdbc:mysql://..."/&gt;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&lt;property name="username"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        value="root"/&gt;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&lt;property name="password"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        value="123456"/&gt;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&lt;/bean&gt;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0" y="1371600"/>
            <a:ext cx="5303520" cy="3200400"/>
          </a:xfrm>
          <a:prstGeom prst="roundRect">
            <a:avLst/>
          </a:prstGeom>
          <a:solidFill>
            <a:srgbClr val="272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# Spring Boot YAML: 5行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spring: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datasource: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url: jdbc:mysql://localhost/demo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username: root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password: ${DB_PASSWORD}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driver-class-name: com.mysql.cj.jdbc.Driver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# 多环境: 一行切换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# spring.profiles.active=prod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4302D"/>
                </a:solidFill>
                <a:latin typeface="Microsoft YaHei"/>
              </a:defRPr>
            </a:pPr>
            <a:r>
              <a:t>没有尖括号 · 没有 property · 没有 bean 定义</a:t>
            </a:r>
            <a:br/>
            <a:r>
              <a:t>密码用 ${DB_PASSWORD} 环境变量，永远不要硬编码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600" b="1">
                <a:solidFill>
                  <a:srgbClr val="6DB33F"/>
                </a:solidFill>
                <a:latin typeface="Microsoft YaHei"/>
              </a:defRPr>
            </a:pPr>
            <a: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统一响应与异常处理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AAAAAA"/>
                </a:solidFill>
                <a:latin typeface="Microsoft YaHei"/>
              </a:defRPr>
            </a:pPr>
            <a:r>
              <a:t>前端同事的救命稻草 · ~10min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926080"/>
            <a:ext cx="1371600" cy="54864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302D"/>
                </a:solidFill>
                <a:latin typeface="Microsoft YaHei"/>
              </a:defRPr>
            </a:pPr>
            <a:r>
              <a:t>✅ 统一用 Result&lt;T&gt; 包装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10515600" cy="1097280"/>
          </a:xfrm>
          <a:prstGeom prst="roundRect">
            <a:avLst/>
          </a:prstGeom>
          <a:solidFill>
            <a:srgbClr val="272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200"/>
              </a:spcAft>
              <a:defRPr sz="1600">
                <a:solidFill>
                  <a:srgbClr val="E6DB74"/>
                </a:solidFill>
                <a:latin typeface="Courier New"/>
              </a:defRPr>
            </a:pPr>
            <a:r>
              <a:t>{"code": 200, "message": "操作成功", "data": { "id": 1, "name": "张三" 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4302D"/>
                </a:solidFill>
                <a:latin typeface="Microsoft YaHei"/>
              </a:defRPr>
            </a:pPr>
            <a:r>
              <a:t>三个字段：code（状态码）+ message（提示）+ data（真正的数据，泛型）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200400"/>
            <a:ext cx="5029200" cy="2286000"/>
          </a:xfrm>
          <a:prstGeom prst="roundRect">
            <a:avLst/>
          </a:prstGeom>
          <a:solidFill>
            <a:srgbClr val="272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// Controller 统一返回 Result&lt;T&gt;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@GetMapping("/{id}")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public Result&lt;Employee&gt; getById(@PathVariable Long id) {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return Result.success(employeeService.getById(id));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}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@DeleteMapping("/{id}")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public Result&lt;Void&gt; delete(@PathVariable Long id) {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employeeService.delete(id);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return Result.success();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}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3200400"/>
            <a:ext cx="4846320" cy="2286000"/>
          </a:xfrm>
          <a:prstGeom prst="roundRect">
            <a:avLst/>
          </a:prstGeom>
          <a:solidFill>
            <a:srgbClr val="272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// 全局异常处理 — 一个类搞定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@RestControllerAdvice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public class GlobalExceptionHandler {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@ExceptionHandler(BusinessException.class)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public Result&lt;?&gt; handle(BusinessException e) {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    return Result.error(e.getCode(), e.getMessage());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  }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}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// Controller 里不需要写任何 try-catch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760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6DB33F"/>
                </a:solidFill>
                <a:latin typeface="Microsoft YaHei"/>
              </a:defRPr>
            </a:pPr>
            <a:r>
              <a:t>审 AI 代码三件事：返回 Result&lt;T&gt;？抛 BusinessException？有 GlobalExceptionHandler？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600" b="1">
                <a:solidFill>
                  <a:srgbClr val="6DB33F"/>
                </a:solidFill>
                <a:latin typeface="Microsoft YaHei"/>
              </a:defRPr>
            </a:pPr>
            <a:r>
              <a:t>⭐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AI 辅助开发实战指南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AAAAAA"/>
                </a:solidFill>
                <a:latin typeface="Microsoft YaHei"/>
              </a:defRPr>
            </a:pPr>
            <a:r>
              <a:t>Prompt 模板 · 15条审查清单 · ~20min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926080"/>
            <a:ext cx="1371600" cy="54864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302D"/>
                </a:solidFill>
                <a:latin typeface="Microsoft YaHei"/>
              </a:defRPr>
            </a:pPr>
            <a:r>
              <a:t>📝 给 AI 写 Prompt 的模板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10515600" cy="3474720"/>
          </a:xfrm>
          <a:prstGeom prst="roundRect">
            <a:avLst/>
          </a:prstGeom>
          <a:solidFill>
            <a:srgbClr val="272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200"/>
              </a:spcAft>
              <a:defRPr sz="1100">
                <a:solidFill>
                  <a:srgbClr val="E6DB74"/>
                </a:solidFill>
                <a:latin typeface="Courier New"/>
              </a:defRPr>
            </a:pPr>
            <a:r>
              <a:t>使用 Spring Boot 3.x + MyBatis Plus 开发【功能描述】。</a:t>
            </a:r>
          </a:p>
          <a:p>
            <a:pPr>
              <a:spcAft>
                <a:spcPts val="200"/>
              </a:spcAft>
              <a:defRPr sz="1100">
                <a:solidFill>
                  <a:srgbClr val="E6DB74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100">
                <a:solidFill>
                  <a:srgbClr val="E6DB74"/>
                </a:solidFill>
                <a:latin typeface="Courier New"/>
              </a:defRPr>
            </a:pPr>
            <a:r>
              <a:t>要求：</a:t>
            </a:r>
          </a:p>
          <a:p>
            <a:pPr>
              <a:spcAft>
                <a:spcPts val="200"/>
              </a:spcAft>
              <a:defRPr sz="1100">
                <a:solidFill>
                  <a:srgbClr val="E6DB74"/>
                </a:solidFill>
                <a:latin typeface="Courier New"/>
              </a:defRPr>
            </a:pPr>
            <a:r>
              <a:t>- 分层架构：Controller / Service / ServiceImpl / Mapper / Entity</a:t>
            </a:r>
          </a:p>
          <a:p>
            <a:pPr>
              <a:spcAft>
                <a:spcPts val="200"/>
              </a:spcAft>
              <a:defRPr sz="1100">
                <a:solidFill>
                  <a:srgbClr val="E6DB74"/>
                </a:solidFill>
                <a:latin typeface="Courier New"/>
              </a:defRPr>
            </a:pPr>
            <a:r>
              <a:t>- 统一返回 Result&lt;T&gt;</a:t>
            </a:r>
          </a:p>
          <a:p>
            <a:pPr>
              <a:spcAft>
                <a:spcPts val="200"/>
              </a:spcAft>
              <a:defRPr sz="1100">
                <a:solidFill>
                  <a:srgbClr val="E6DB74"/>
                </a:solidFill>
                <a:latin typeface="Courier New"/>
              </a:defRPr>
            </a:pPr>
            <a:r>
              <a:t>- 增删改加 @Transactional</a:t>
            </a:r>
          </a:p>
          <a:p>
            <a:pPr>
              <a:spcAft>
                <a:spcPts val="200"/>
              </a:spcAft>
              <a:defRPr sz="1100">
                <a:solidFill>
                  <a:srgbClr val="E6DB74"/>
                </a:solidFill>
                <a:latin typeface="Courier New"/>
              </a:defRPr>
            </a:pPr>
            <a:r>
              <a:t>- 用 LambdaQueryWrapper，不要字符串拼 SQL</a:t>
            </a:r>
          </a:p>
          <a:p>
            <a:pPr>
              <a:spcAft>
                <a:spcPts val="200"/>
              </a:spcAft>
              <a:defRPr sz="1100">
                <a:solidFill>
                  <a:srgbClr val="E6DB74"/>
                </a:solidFill>
                <a:latin typeface="Courier New"/>
              </a:defRPr>
            </a:pPr>
            <a:r>
              <a:t>- 日期用 LocalDateTime，金额用 BigDecimal</a:t>
            </a:r>
          </a:p>
          <a:p>
            <a:pPr>
              <a:spcAft>
                <a:spcPts val="200"/>
              </a:spcAft>
              <a:defRPr sz="1100">
                <a:solidFill>
                  <a:srgbClr val="E6DB74"/>
                </a:solidFill>
                <a:latin typeface="Courier New"/>
              </a:defRPr>
            </a:pPr>
            <a:r>
              <a:t>- 异常用 BusinessException，不要空 catch</a:t>
            </a:r>
          </a:p>
          <a:p>
            <a:pPr>
              <a:spcAft>
                <a:spcPts val="200"/>
              </a:spcAft>
              <a:defRPr sz="1100">
                <a:solidFill>
                  <a:srgbClr val="E6DB74"/>
                </a:solidFill>
                <a:latin typeface="Courier New"/>
              </a:defRPr>
            </a:pPr>
            <a:r>
              <a:t>- 包名用 jakarta，不要 javax</a:t>
            </a:r>
          </a:p>
          <a:p>
            <a:pPr>
              <a:spcAft>
                <a:spcPts val="200"/>
              </a:spcAft>
              <a:defRPr sz="1100">
                <a:solidFill>
                  <a:srgbClr val="E6DB74"/>
                </a:solidFill>
                <a:latin typeface="Courier New"/>
              </a:defRPr>
            </a:pPr>
            <a:r>
              <a:t>- 不要生成 XML 配置，全用注解和 YAML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12064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4302D"/>
                </a:solidFill>
                <a:latin typeface="Microsoft YaHei"/>
              </a:defRPr>
            </a:pPr>
            <a:r>
              <a:t>每一个要求前面几章都讲过了。你每多说一句要求，就少踩一个坑。</a:t>
            </a:r>
            <a:br/>
            <a:r>
              <a:t>关键：AI 不会理解你项目的上下文——你说了才有。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302D"/>
                </a:solidFill>
                <a:latin typeface="Microsoft YaHei"/>
              </a:defRPr>
            </a:pPr>
            <a:r>
              <a:t>🔍 15 条审查清单（1/3）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1645920"/>
            <a:ext cx="9144000" cy="64008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6DB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17373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4302D"/>
                </a:solidFill>
                <a:latin typeface="Microsoft YaHei"/>
              </a:defRPr>
            </a:pPr>
            <a:r>
              <a:t>① 文件在正确包下？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2560320"/>
            <a:ext cx="9144000" cy="64008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6DB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26517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4302D"/>
                </a:solidFill>
                <a:latin typeface="Microsoft YaHei"/>
              </a:defRPr>
            </a:pPr>
            <a:r>
              <a:t>② Controller 有 @RestController？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3474720"/>
            <a:ext cx="9144000" cy="64008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6DB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35661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4302D"/>
                </a:solidFill>
                <a:latin typeface="Microsoft YaHei"/>
              </a:defRPr>
            </a:pPr>
            <a:r>
              <a:t>③ Service 接口+实现分离？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4389120"/>
            <a:ext cx="9144000" cy="64008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6DB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45920" y="4480559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4302D"/>
                </a:solidFill>
                <a:latin typeface="Microsoft YaHei"/>
              </a:defRPr>
            </a:pPr>
            <a:r>
              <a:t>④ Mapper 继承 BaseMapper？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5303520"/>
            <a:ext cx="9144000" cy="64008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6DB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0" y="5394959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4302D"/>
                </a:solidFill>
                <a:latin typeface="Microsoft YaHei"/>
              </a:defRPr>
            </a:pPr>
            <a:r>
              <a:t>⑤ @TableName 对应表名？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302D"/>
                </a:solidFill>
                <a:latin typeface="Microsoft YaHei"/>
              </a:defRPr>
            </a:pPr>
            <a:r>
              <a:t>🔍 15 条审查清单（2/3）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1645920"/>
            <a:ext cx="9144000" cy="64008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6DB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17373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4302D"/>
                </a:solidFill>
                <a:latin typeface="Microsoft YaHei"/>
              </a:defRPr>
            </a:pPr>
            <a:r>
              <a:t>⑥ 返回值是 Result&lt;T&gt;？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2560320"/>
            <a:ext cx="9144000" cy="64008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6DB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26517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4302D"/>
                </a:solidFill>
                <a:latin typeface="Microsoft YaHei"/>
              </a:defRPr>
            </a:pPr>
            <a:r>
              <a:t>⑦ 增删改有 @Transactional？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3474720"/>
            <a:ext cx="9144000" cy="64008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6DB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35661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4302D"/>
                </a:solidFill>
                <a:latin typeface="Microsoft YaHei"/>
              </a:defRPr>
            </a:pPr>
            <a:r>
              <a:t>⑧ 密码硬编码了？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4389120"/>
            <a:ext cx="9144000" cy="64008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6DB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45920" y="4480559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4302D"/>
                </a:solidFill>
                <a:latin typeface="Microsoft YaHei"/>
              </a:defRPr>
            </a:pPr>
            <a:r>
              <a:t>⑨ 用了 LambdaQueryWrapper？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5303520"/>
            <a:ext cx="9144000" cy="64008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6DB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0" y="5394959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4302D"/>
                </a:solidFill>
                <a:latin typeface="Microsoft YaHei"/>
              </a:defRPr>
            </a:pPr>
            <a:r>
              <a:t>⑩ catch 块是空的？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302D"/>
                </a:solidFill>
                <a:latin typeface="Microsoft YaHei"/>
              </a:defRPr>
            </a:pPr>
            <a:r>
              <a:t>🔍 15 条审查清单（3/3）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371600" y="1645920"/>
            <a:ext cx="9144000" cy="64008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6DB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17373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4302D"/>
                </a:solidFill>
                <a:latin typeface="Microsoft YaHei"/>
              </a:defRPr>
            </a:pPr>
            <a:r>
              <a:t>⑪ 分页用了 Page&lt;T&gt;？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2560320"/>
            <a:ext cx="9144000" cy="64008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6DB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26517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4302D"/>
                </a:solidFill>
                <a:latin typeface="Microsoft YaHei"/>
              </a:defRPr>
            </a:pPr>
            <a:r>
              <a:t>⑫ 日期用 LocalDateTime？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3474720"/>
            <a:ext cx="9144000" cy="64008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6DB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35661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4302D"/>
                </a:solidFill>
                <a:latin typeface="Microsoft YaHei"/>
              </a:defRPr>
            </a:pPr>
            <a:r>
              <a:t>⑬ 参数有 @Valid？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71600" y="4389120"/>
            <a:ext cx="9144000" cy="64008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6DB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45920" y="4480559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4302D"/>
                </a:solidFill>
                <a:latin typeface="Microsoft YaHei"/>
              </a:defRPr>
            </a:pPr>
            <a:r>
              <a:t>⑭ 日志用 @Slf4j？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5303520"/>
            <a:ext cx="9144000" cy="640080"/>
          </a:xfrm>
          <a:prstGeom prst="roundRect">
            <a:avLst/>
          </a:prstGeom>
          <a:solidFill>
            <a:srgbClr val="F8F9FA"/>
          </a:solidFill>
          <a:ln w="12700">
            <a:solidFill>
              <a:srgbClr val="6DB3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0" y="5394959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4302D"/>
                </a:solidFill>
                <a:latin typeface="Microsoft YaHei"/>
              </a:defRPr>
            </a:pPr>
            <a:r>
              <a:t>⑮ import 有 javax？(应为 jakarta)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62179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6DB33F"/>
                </a:solidFill>
                <a:latin typeface="Microsoft YaHei"/>
              </a:defRPr>
            </a:pPr>
            <a:r>
              <a:t>这 15 条，不需要会写代码就能查 —— AI 写代码，你质检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34302D"/>
                </a:solidFill>
                <a:latin typeface="Microsoft YaHei"/>
              </a:defRPr>
            </a:pPr>
            <a:r>
              <a:t>🐛 AI 最常犯的 3 个错误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097280" cy="45720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320040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103120"/>
            <a:ext cx="2834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34302D"/>
                </a:solidFill>
                <a:latin typeface="Microsoft YaHei"/>
              </a:defRPr>
            </a:pPr>
            <a:r>
              <a:t>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01752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4302D"/>
                </a:solidFill>
                <a:latin typeface="Microsoft YaHei"/>
              </a:defRPr>
            </a:pPr>
            <a:r>
              <a:t>循环里查数据库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566160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for 循环里 selectById</a:t>
            </a:r>
            <a:br/>
            <a:r>
              <a:t>→ 应该 selectBatchIds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77640" y="1828800"/>
            <a:ext cx="320040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60520" y="2103120"/>
            <a:ext cx="2834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34302D"/>
                </a:solidFill>
                <a:latin typeface="Microsoft YaHei"/>
              </a:defRPr>
            </a:pPr>
            <a:r>
              <a:t>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1752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4302D"/>
                </a:solidFill>
                <a:latin typeface="Microsoft YaHei"/>
              </a:defRPr>
            </a:pPr>
            <a:r>
              <a:t>忘了 @Transactional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3566160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转账扣钱成功加钱失败</a:t>
            </a:r>
            <a:br/>
            <a:r>
              <a:t>→ 钱凭空消失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52360" y="1828800"/>
            <a:ext cx="320040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2103120"/>
            <a:ext cx="2834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34302D"/>
                </a:solidFill>
                <a:latin typeface="Microsoft YaHei"/>
              </a:defRPr>
            </a:pPr>
            <a:r>
              <a:t>🕳️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301752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4302D"/>
                </a:solidFill>
                <a:latin typeface="Microsoft YaHei"/>
              </a:defRPr>
            </a:pPr>
            <a:r>
              <a:t>空 catch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3566160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catch(Exception e){}</a:t>
            </a:r>
            <a:br/>
            <a:r>
              <a:t>→ 定时炸弹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600" b="1">
                <a:solidFill>
                  <a:srgbClr val="6DB33F"/>
                </a:solidFill>
                <a:latin typeface="Microsoft YaHei"/>
              </a:defRPr>
            </a:pPr>
            <a: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Demo 现场演示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AAAAAA"/>
                </a:solidFill>
                <a:latin typeface="Microsoft YaHei"/>
              </a:defRPr>
            </a:pPr>
            <a:r>
              <a:t>员工管理系统 · ~15min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926080"/>
            <a:ext cx="1371600" cy="54864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302D"/>
                </a:solidFill>
                <a:latin typeface="Microsoft YaHei"/>
              </a:defRPr>
            </a:pPr>
            <a:r>
              <a:t>🚀 启动 &amp; 测试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188720"/>
            <a:ext cx="5029200" cy="2560320"/>
          </a:xfrm>
          <a:prstGeom prst="roundRect">
            <a:avLst/>
          </a:prstGeom>
          <a:solidFill>
            <a:srgbClr val="272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# 启动项目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cd demo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mvn spring-boot:run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# Started DemoApplication in 0.958s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# H2 控制台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# http://localhost:8080/h2-console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# JDBC URL: jdbc:h2:mem:demo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0" y="1188720"/>
            <a:ext cx="4846320" cy="2560320"/>
          </a:xfrm>
          <a:prstGeom prst="roundRect">
            <a:avLst/>
          </a:prstGeom>
          <a:solidFill>
            <a:srgbClr val="2728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# 查所有部门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curl http://localhost:8080/api/departments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# 分页查员工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curl "localhost:8080/api/employees?current=1&amp;size=5"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# 新增员工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curl -X POST http://localhost:8080/api/employees \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-H "Content-Type: application/json" \</a:t>
            </a:r>
          </a:p>
          <a:p>
            <a:pPr>
              <a:spcAft>
                <a:spcPts val="200"/>
              </a:spcAft>
              <a:defRPr sz="1000">
                <a:solidFill>
                  <a:srgbClr val="E6DB74"/>
                </a:solidFill>
                <a:latin typeface="Courier New"/>
              </a:defRPr>
            </a:pPr>
            <a:r>
              <a:t>  -d '{"name":"新员工","age":26,"salary":15000}'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20624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4302D"/>
                </a:solidFill>
                <a:latin typeface="Microsoft YaHei"/>
              </a:defRPr>
            </a:pPr>
            <a:r>
              <a:t>不到 1 秒启动。完整 Web 应用 — 数据库 + HTTP + JSON 全在内存里。</a:t>
            </a:r>
            <a:br/>
            <a:r>
              <a:t>H2 内存数据库，应用一停数据就没了——非常适合演示。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600" b="1">
                <a:solidFill>
                  <a:srgbClr val="6DB33F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从单体到微服务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AAAAAA"/>
                </a:solidFill>
                <a:latin typeface="Microsoft YaHei"/>
              </a:defRPr>
            </a:pPr>
            <a:r>
              <a:t>为什么需要 Spring Cloud · ~12min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926080"/>
            <a:ext cx="1371600" cy="54864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302D"/>
                </a:solidFill>
                <a:latin typeface="Microsoft YaHei"/>
              </a:defRPr>
            </a:pPr>
            <a:r>
              <a:t>🏢 一个电商公司的故事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4302D"/>
                </a:solidFill>
                <a:latin typeface="Microsoft YaHei"/>
              </a:defRPr>
            </a:pPr>
            <a:r>
              <a:t>创业第一天：一个 shop.jar — 订单、用户、商品全在里面。真爽。这就是单体架构。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74C3C"/>
                </a:solidFill>
                <a:latin typeface="Microsoft YaHei"/>
              </a:defRPr>
            </a:pPr>
            <a:r>
              <a:t>一年后 200 人：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743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4302D"/>
                </a:solidFill>
                <a:latin typeface="Microsoft YaHei"/>
              </a:defRPr>
            </a:pPr>
            <a:r>
              <a:t>😤 "昨天写的代码被谁覆盖了？" 合并冲突 50 个文件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3832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4302D"/>
                </a:solidFill>
                <a:latin typeface="Microsoft YaHei"/>
              </a:defRPr>
            </a:pPr>
            <a:r>
              <a:t>😤 "订单扩容 → 整个系统部署 10 份。" 4G×10=40G 内存，实际上只有订单需要扩容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0233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4302D"/>
                </a:solidFill>
                <a:latin typeface="Microsoft YaHei"/>
              </a:defRPr>
            </a:pPr>
            <a:r>
              <a:t>😤 "改一行代码 → 全站重新部署。" 换灯泡拉整栋楼电闸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663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4302D"/>
                </a:solidFill>
                <a:latin typeface="Microsoft YaHei"/>
              </a:defRPr>
            </a:pPr>
            <a:r>
              <a:t>😤 "用户模块挂了 → 全站崩溃。" 一个房间短路，整栋楼停电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302D"/>
                </a:solidFill>
                <a:latin typeface="Microsoft YaHei"/>
              </a:defRPr>
            </a:pPr>
            <a:r>
              <a:t>⚠️ 拆完之后的新问题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4302D"/>
                </a:solidFill>
                <a:latin typeface="Microsoft YaHei"/>
              </a:defRPr>
            </a:pPr>
            <a:r>
              <a:t>微服务的答案：把一个超级工程拆成几十个小工程，每个独立开发、独立部署、独立扩容。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4302D"/>
                </a:solidFill>
                <a:latin typeface="Microsoft YaHei"/>
              </a:defRPr>
            </a:pPr>
            <a:r>
              <a:t>❓ 订单服务要调用户服务 —— 怎么找到它在哪台机器？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474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4302D"/>
                </a:solidFill>
                <a:latin typeface="Microsoft YaHei"/>
              </a:defRPr>
            </a:pPr>
            <a:r>
              <a:t>❓ 前端要调 30 个服务 —— 难道记住 30 个地址？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4302D"/>
                </a:solidFill>
                <a:latin typeface="Microsoft YaHei"/>
              </a:defRPr>
            </a:pPr>
            <a:r>
              <a:t>❓ 用户服务挂了 —— 怎么不让它把订单服务也拖死？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937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34302D"/>
                </a:solidFill>
                <a:latin typeface="Microsoft YaHei"/>
              </a:defRPr>
            </a:pPr>
            <a:r>
              <a:t>❓ 一个请求跨 5 个服务 —— 慢了怎么排查？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760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DB33F"/>
                </a:solidFill>
                <a:latin typeface="Microsoft YaHei"/>
              </a:defRPr>
            </a:pPr>
            <a:r>
              <a:t>Spring Boot 让一个服务跑起来 → Spring Cloud 让一堆服务能协作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600" b="1">
                <a:solidFill>
                  <a:srgbClr val="6DB33F"/>
                </a:solidFill>
                <a:latin typeface="Microsoft YaHei"/>
              </a:defRPr>
            </a:pPr>
            <a: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Spring Cloud 六大组件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AAAAAA"/>
                </a:solidFill>
                <a:latin typeface="Microsoft YaHei"/>
              </a:defRPr>
            </a:pPr>
            <a:r>
              <a:t>拆完之后的六道保险 · ~28min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926080"/>
            <a:ext cx="1371600" cy="54864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097280"/>
            <a:ext cx="5029200" cy="457200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34302D"/>
                </a:solidFill>
                <a:latin typeface="Microsoft YaHei"/>
              </a:defRPr>
            </a:pPr>
            <a:r>
              <a:t>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34302D"/>
                </a:solidFill>
                <a:latin typeface="Microsoft YaHei"/>
              </a:defRPr>
            </a:pPr>
            <a:r>
              <a:t>Nacos 注册中心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383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DB33F"/>
                </a:solidFill>
                <a:latin typeface="Microsoft YaHei"/>
              </a:defRPr>
            </a:pPr>
            <a:r>
              <a:t>「公司通讯录」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每个服务启动去登记，调用方去查询。</a:t>
            </a:r>
            <a:br/>
            <a:r>
              <a:t>你换手机号—更新通讯录就行，不用群发500人。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74C3C"/>
                </a:solidFill>
                <a:latin typeface="Microsoft YaHei"/>
              </a:defRPr>
            </a:pPr>
            <a:r>
              <a:t>❓ 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01168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4302D"/>
                </a:solidFill>
                <a:latin typeface="Microsoft YaHei"/>
              </a:defRPr>
            </a:pPr>
            <a:r>
              <a:t>订单服务怎么知道用户服务在哪台机器？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474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DB33F"/>
                </a:solidFill>
                <a:latin typeface="Microsoft YaHei"/>
              </a:defRPr>
            </a:pPr>
            <a:r>
              <a:t>✅ 解法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411480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4302D"/>
                </a:solidFill>
                <a:latin typeface="Microsoft YaHei"/>
              </a:defRPr>
            </a:pPr>
            <a:r>
              <a:t>Nacos 登记+查询。自动感知服务上下线。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097280"/>
            <a:ext cx="5029200" cy="457200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34302D"/>
                </a:solidFill>
                <a:latin typeface="Microsoft YaHei"/>
              </a:defRPr>
            </a:pPr>
            <a:r>
              <a:t>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34302D"/>
                </a:solidFill>
                <a:latin typeface="Microsoft YaHei"/>
              </a:defRPr>
            </a:pPr>
            <a:r>
              <a:t>Gateway 网关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383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DB33F"/>
                </a:solidFill>
                <a:latin typeface="Microsoft YaHei"/>
              </a:defRPr>
            </a:pPr>
            <a:r>
              <a:t>「写字楼前台」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前端只调 Gateway 一个入口。</a:t>
            </a:r>
            <a:br/>
            <a:r>
              <a:t>统一鉴权：没 token 的门都进不来。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74C3C"/>
                </a:solidFill>
                <a:latin typeface="Microsoft YaHei"/>
              </a:defRPr>
            </a:pPr>
            <a:r>
              <a:t>❓ 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01168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4302D"/>
                </a:solidFill>
                <a:latin typeface="Microsoft YaHei"/>
              </a:defRPr>
            </a:pPr>
            <a:r>
              <a:t>前端记30个地址？每个服务都做鉴权？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474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DB33F"/>
                </a:solidFill>
                <a:latin typeface="Microsoft YaHei"/>
              </a:defRPr>
            </a:pPr>
            <a:r>
              <a:t>✅ 解法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411480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4302D"/>
                </a:solidFill>
                <a:latin typeface="Microsoft YaHei"/>
              </a:defRPr>
            </a:pPr>
            <a:r>
              <a:t>单一入口+统一鉴权。前端只记一个地址。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097280"/>
            <a:ext cx="5029200" cy="457200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34302D"/>
                </a:solidFill>
                <a:latin typeface="Microsoft YaHei"/>
              </a:defRPr>
            </a:pPr>
            <a:r>
              <a:t>☁️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34302D"/>
                </a:solidFill>
                <a:latin typeface="Microsoft YaHei"/>
              </a:defRPr>
            </a:pPr>
            <a:r>
              <a:t>Nacos Config 配置中心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383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DB33F"/>
                </a:solidFill>
                <a:latin typeface="Microsoft YaHei"/>
              </a:defRPr>
            </a:pPr>
            <a:r>
              <a:t>「iCloud 同步」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一处修改，全部推送，不重启生效。</a:t>
            </a:r>
            <a:br/>
            <a:r>
              <a:t>换新手机→iCloud→全部自动同步。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74C3C"/>
                </a:solidFill>
                <a:latin typeface="Microsoft YaHei"/>
              </a:defRPr>
            </a:pPr>
            <a:r>
              <a:t>❓ 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01168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4302D"/>
                </a:solidFill>
                <a:latin typeface="Microsoft YaHei"/>
              </a:defRPr>
            </a:pPr>
            <a:r>
              <a:t>数据库地址变了→改10份配置重启10个服务？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474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DB33F"/>
                </a:solidFill>
                <a:latin typeface="Microsoft YaHei"/>
              </a:defRPr>
            </a:pPr>
            <a:r>
              <a:t>✅ 解法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411480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4302D"/>
                </a:solidFill>
                <a:latin typeface="Microsoft YaHei"/>
              </a:defRPr>
            </a:pPr>
            <a:r>
              <a:t>配置中心统一管理。一处改，全部自动生效。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097280"/>
            <a:ext cx="5029200" cy="457200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34302D"/>
                </a:solidFill>
                <a:latin typeface="Microsoft YaHei"/>
              </a:defRPr>
            </a:pPr>
            <a:r>
              <a:t>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34302D"/>
                </a:solidFill>
                <a:latin typeface="Microsoft YaHei"/>
              </a:defRPr>
            </a:pPr>
            <a:r>
              <a:t>Feign 服务调用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383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DB33F"/>
                </a:solidFill>
                <a:latin typeface="Microsoft YaHei"/>
              </a:defRPr>
            </a:pPr>
            <a:r>
              <a:t>「快捷拨号」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写接口+注解=自动发 HTTP。</a:t>
            </a:r>
            <a:br/>
            <a:r>
              <a:t>设一个"老婆"快捷拨号，说名字就拨。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74C3C"/>
                </a:solidFill>
                <a:latin typeface="Microsoft YaHei"/>
              </a:defRPr>
            </a:pPr>
            <a:r>
              <a:t>❓ 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01168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4302D"/>
                </a:solidFill>
                <a:latin typeface="Microsoft YaHei"/>
              </a:defRPr>
            </a:pPr>
            <a:r>
              <a:t>手写HTTP：拼URL、发请求、解析响应？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474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DB33F"/>
                </a:solidFill>
                <a:latin typeface="Microsoft YaHei"/>
              </a:defRPr>
            </a:pPr>
            <a:r>
              <a:t>✅ 解法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411480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4302D"/>
                </a:solidFill>
                <a:latin typeface="Microsoft YaHei"/>
              </a:defRPr>
            </a:pPr>
            <a:r>
              <a:t>声明式调用。像调本地方法一样调远程。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097280"/>
            <a:ext cx="5029200" cy="457200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34302D"/>
                </a:solidFill>
                <a:latin typeface="Microsoft YaHei"/>
              </a:defRPr>
            </a:pPr>
            <a:r>
              <a:t>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34302D"/>
                </a:solidFill>
                <a:latin typeface="Microsoft YaHei"/>
              </a:defRPr>
            </a:pPr>
            <a:r>
              <a:t>Sentinel 熔断降级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383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DB33F"/>
                </a:solidFill>
                <a:latin typeface="Microsoft YaHei"/>
              </a:defRPr>
            </a:pPr>
            <a:r>
              <a:t>「保险丝」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下游挂了→熔断切断+降级兜底。</a:t>
            </a:r>
            <a:br/>
            <a:r>
              <a:t>电饭煲短路→保险丝断→只断厨房，客厅还亮。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74C3C"/>
                </a:solidFill>
                <a:latin typeface="Microsoft YaHei"/>
              </a:defRPr>
            </a:pPr>
            <a:r>
              <a:t>❓ 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01168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4302D"/>
                </a:solidFill>
                <a:latin typeface="Microsoft YaHei"/>
              </a:defRPr>
            </a:pPr>
            <a:r>
              <a:t>用户服务挂了→订单不停重试→订单也挂→全站崩溃？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474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DB33F"/>
                </a:solidFill>
                <a:latin typeface="Microsoft YaHei"/>
              </a:defRPr>
            </a:pPr>
            <a:r>
              <a:t>✅ 解法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411480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4302D"/>
                </a:solidFill>
                <a:latin typeface="Microsoft YaHei"/>
              </a:defRPr>
            </a:pPr>
            <a:r>
              <a:t>熔断（切断）+降级（兜底）。自动恢复。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1097280"/>
            <a:ext cx="5029200" cy="4572000"/>
          </a:xfrm>
          <a:prstGeom prst="roundRect">
            <a:avLst/>
          </a:prstGeom>
          <a:solidFill>
            <a:srgbClr val="F0FDF4"/>
          </a:solidFill>
          <a:ln w="25400"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64592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34302D"/>
                </a:solidFill>
                <a:latin typeface="Microsoft YaHei"/>
              </a:defRPr>
            </a:pPr>
            <a:r>
              <a:t>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74320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34302D"/>
                </a:solidFill>
                <a:latin typeface="Microsoft YaHei"/>
              </a:defRPr>
            </a:pPr>
            <a:r>
              <a:t>Sleuth/Zipkin 链路追踪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3832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6DB33F"/>
                </a:solidFill>
                <a:latin typeface="Microsoft YaHei"/>
              </a:defRPr>
            </a:pPr>
            <a:r>
              <a:t>「快递单号」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11480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每个请求一个 TraceID 串联全链路。</a:t>
            </a:r>
            <a:br/>
            <a:r>
              <a:t>快递慢了？看物流轨迹—卡分拨中心5h→破案。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74C3C"/>
                </a:solidFill>
                <a:latin typeface="Microsoft YaHei"/>
              </a:defRPr>
            </a:pPr>
            <a:r>
              <a:t>❓ 问题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01168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4302D"/>
                </a:solidFill>
                <a:latin typeface="Microsoft YaHei"/>
              </a:defRPr>
            </a:pPr>
            <a:r>
              <a:t>请求跨5个服务，慢了——哪一步的问题？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3474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6DB33F"/>
                </a:solidFill>
                <a:latin typeface="Microsoft YaHei"/>
              </a:defRPr>
            </a:pPr>
            <a:r>
              <a:t>✅ 解法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411480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34302D"/>
                </a:solidFill>
                <a:latin typeface="Microsoft YaHei"/>
              </a:defRPr>
            </a:pPr>
            <a:r>
              <a:t>全局 TraceID。调用链每个节点耗时一目了然。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302D"/>
                </a:solidFill>
                <a:latin typeface="Microsoft YaHei"/>
              </a:defRPr>
            </a:pPr>
            <a:r>
              <a:t>🧩 六大组件速查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463040"/>
            <a:ext cx="34747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4302D"/>
                </a:solidFill>
                <a:latin typeface="Microsoft YaHei"/>
              </a:defRPr>
            </a:pPr>
            <a:r>
              <a:t>📒 Nacos 注册中心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3774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DB33F"/>
                </a:solidFill>
                <a:latin typeface="Microsoft YaHei"/>
              </a:defRPr>
            </a:pPr>
            <a:r>
              <a:t>「公司通讯录」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59" y="1463040"/>
            <a:ext cx="34747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79" y="16459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4302D"/>
                </a:solidFill>
                <a:latin typeface="Microsoft YaHei"/>
              </a:defRPr>
            </a:pPr>
            <a:r>
              <a:t>🏢 Gateway 网关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79" y="23774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DB33F"/>
                </a:solidFill>
                <a:latin typeface="Microsoft YaHei"/>
              </a:defRPr>
            </a:pPr>
            <a:r>
              <a:t>「写字楼前台」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463040"/>
            <a:ext cx="34747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0" y="164592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4302D"/>
                </a:solidFill>
                <a:latin typeface="Microsoft YaHei"/>
              </a:defRPr>
            </a:pPr>
            <a:r>
              <a:t>☁️ Nacos Config 配置中心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23774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DB33F"/>
                </a:solidFill>
                <a:latin typeface="Microsoft YaHei"/>
              </a:defRPr>
            </a:pPr>
            <a:r>
              <a:t>「iCloud 同步」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023360"/>
            <a:ext cx="34747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2062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4302D"/>
                </a:solidFill>
                <a:latin typeface="Microsoft YaHei"/>
              </a:defRPr>
            </a:pPr>
            <a:r>
              <a:t>📞 Feign 服务调用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9377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DB33F"/>
                </a:solidFill>
                <a:latin typeface="Microsoft YaHei"/>
              </a:defRPr>
            </a:pPr>
            <a:r>
              <a:t>「快捷拨号」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80559" y="4023360"/>
            <a:ext cx="34747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79" y="42062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4302D"/>
                </a:solidFill>
                <a:latin typeface="Microsoft YaHei"/>
              </a:defRPr>
            </a:pPr>
            <a:r>
              <a:t>⚡ Sentinel 熔断降级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79" y="49377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DB33F"/>
                </a:solidFill>
                <a:latin typeface="Microsoft YaHei"/>
              </a:defRPr>
            </a:pPr>
            <a:r>
              <a:t>「保险丝」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0" y="4023360"/>
            <a:ext cx="347472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0" y="420624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4302D"/>
                </a:solidFill>
                <a:latin typeface="Microsoft YaHei"/>
              </a:defRPr>
            </a:pPr>
            <a:r>
              <a:t>📦 Sleuth/Zipkin 链路追踪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493776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DB33F"/>
                </a:solidFill>
                <a:latin typeface="Microsoft YaHei"/>
              </a:defRPr>
            </a:pPr>
            <a:r>
              <a:t>「快递单号」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6DB33F"/>
                </a:solidFill>
                <a:latin typeface="Microsoft YaHei"/>
              </a:defRPr>
            </a:pPr>
            <a:r>
              <a:t>六个组件，六个生活场景。你不需要会配置，但开会时不会一脸懵。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600" b="1">
                <a:solidFill>
                  <a:srgbClr val="6DB33F"/>
                </a:solidFill>
                <a:latin typeface="Microsoft YaHei"/>
              </a:defRPr>
            </a:pPr>
            <a: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产品视角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AAAAAA"/>
                </a:solidFill>
                <a:latin typeface="Microsoft YaHei"/>
              </a:defRPr>
            </a:pPr>
            <a:r>
              <a:t>微服务不是免费的午餐 · ~8min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926080"/>
            <a:ext cx="1371600" cy="54864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34302D"/>
                </a:solidFill>
                <a:latin typeface="Microsoft YaHei"/>
              </a:defRPr>
            </a:pPr>
            <a:r>
              <a:t>❓ 拆之前，先问三个问题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371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4302D"/>
                </a:solidFill>
                <a:latin typeface="Microsoft YaHei"/>
              </a:defRPr>
            </a:pPr>
            <a:r>
              <a:t>① 有独立的业务边界吗？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20116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Microsoft YaHei"/>
              </a:defRPr>
            </a:pPr>
            <a:r>
              <a:t>不是"功能多"就该拆。订单和订单详情是同一个边界。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92608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4302D"/>
                </a:solidFill>
                <a:latin typeface="Microsoft YaHei"/>
              </a:defRPr>
            </a:pPr>
            <a:r>
              <a:t>② 需要独立扩容吗？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3566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Microsoft YaHei"/>
              </a:defRPr>
            </a:pPr>
            <a:r>
              <a:t>双十一只有订单要加机器，用户不用——才值得拆。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4805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34302D"/>
                </a:solidFill>
                <a:latin typeface="Microsoft YaHei"/>
              </a:defRPr>
            </a:pPr>
            <a:r>
              <a:t>③ 有独立团队维护吗？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5120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666666"/>
                </a:solidFill>
                <a:latin typeface="Microsoft YaHei"/>
              </a:defRPr>
            </a:pPr>
            <a:r>
              <a:t>一个团队维护3个微服务 = 分布式单体，更复杂还没拿到好处。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760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6DB33F"/>
                </a:solidFill>
                <a:latin typeface="Microsoft YaHei"/>
              </a:defRPr>
            </a:pPr>
            <a:r>
              <a:t>每拆一个服务，运维成本就多一份。拆之前，先问这三个问题。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600" b="1">
                <a:solidFill>
                  <a:srgbClr val="6DB33F"/>
                </a:solidFill>
                <a:latin typeface="Microsoft YaHei"/>
              </a:defRPr>
            </a:pPr>
            <a: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课程总结 + Q&amp;A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3891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AAAAAA"/>
                </a:solidFill>
                <a:latin typeface="Microsoft YaHei"/>
              </a:defRPr>
            </a:pPr>
            <a:r>
              <a:t>~10min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926080"/>
            <a:ext cx="1371600" cy="54864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34302D"/>
                </a:solidFill>
                <a:latin typeface="Microsoft YaHei"/>
              </a:defRPr>
            </a:pPr>
            <a:r>
              <a:t>🚗 你最该带走的三件事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51560"/>
            <a:ext cx="1097280" cy="45720"/>
          </a:xfrm>
          <a:prstGeom prst="rect">
            <a:avLst/>
          </a:prstGeom>
          <a:solidFill>
            <a:srgbClr val="6DB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828800"/>
            <a:ext cx="320040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103120"/>
            <a:ext cx="2834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34302D"/>
                </a:solidFill>
                <a:latin typeface="Microsoft YaHei"/>
              </a:defRPr>
            </a:pPr>
            <a:r>
              <a:t>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01752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4302D"/>
                </a:solidFill>
                <a:latin typeface="Microsoft YaHei"/>
              </a:defRPr>
            </a:pPr>
            <a:r>
              <a:t>Spring Boot = 自动挡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566160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学过的 Spring 全部有效</a:t>
            </a:r>
            <a:br/>
            <a:r>
              <a:t>只是不需要 XML 配置了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77640" y="1828800"/>
            <a:ext cx="320040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60520" y="2103120"/>
            <a:ext cx="2834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34302D"/>
                </a:solidFill>
                <a:latin typeface="Microsoft YaHei"/>
              </a:defRPr>
            </a:pPr>
            <a:r>
              <a:t>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1752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4302D"/>
                </a:solidFill>
                <a:latin typeface="Microsoft YaHei"/>
              </a:defRPr>
            </a:pPr>
            <a:r>
              <a:t>15 条审查清单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3566160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你不会写，但你会查</a:t>
            </a:r>
            <a:br/>
            <a:r>
              <a:t>AI 写代码，你质检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52360" y="1828800"/>
            <a:ext cx="320040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2103120"/>
            <a:ext cx="2834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34302D"/>
                </a:solidFill>
                <a:latin typeface="Microsoft YaHei"/>
              </a:defRPr>
            </a:pPr>
            <a:r>
              <a:t>🏗️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301752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4302D"/>
                </a:solidFill>
                <a:latin typeface="Microsoft YaHei"/>
              </a:defRPr>
            </a:pPr>
            <a:r>
              <a:t>Cloud 六道保险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3566160"/>
            <a:ext cx="2834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666666"/>
                </a:solidFill>
                <a:latin typeface="Microsoft YaHei"/>
              </a:defRPr>
            </a:pPr>
            <a:r>
              <a:t>拆之前先三问</a:t>
            </a:r>
            <a:br/>
            <a:r>
              <a:t>不是免费的午餐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4302D"/>
                </a:solidFill>
                <a:latin typeface="Microsoft YaHei"/>
              </a:defRPr>
            </a:pPr>
            <a:r>
              <a:t>📝 课后资料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164592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4302D"/>
                </a:solidFill>
                <a:latin typeface="Microsoft YaHei"/>
              </a:defRPr>
            </a:pPr>
            <a:r>
              <a:t>📂 Demo 源码：demo/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0" y="246888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4302D"/>
                </a:solidFill>
                <a:latin typeface="Microsoft YaHei"/>
              </a:defRPr>
            </a:pPr>
            <a:r>
              <a:t>▶️ 启动命令：cd demo &amp;&amp; mvn spring-boot:run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329184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4302D"/>
                </a:solidFill>
                <a:latin typeface="Microsoft YaHei"/>
              </a:defRPr>
            </a:pPr>
            <a:r>
              <a:t>📄 大纲 &amp; 逐字稿：docs/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411480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4302D"/>
                </a:solidFill>
                <a:latin typeface="Microsoft YaHei"/>
              </a:defRPr>
            </a:pPr>
            <a:r>
              <a:t>🌐 Spring Initializr：start.spring.io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493776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4302D"/>
                </a:solidFill>
                <a:latin typeface="Microsoft YaHei"/>
              </a:defRPr>
            </a:pPr>
            <a:r>
              <a:t>📋 AI 审查清单 —— 见大纲第7章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400" b="1">
                <a:solidFill>
                  <a:srgbClr val="FFFFFF"/>
                </a:solidFill>
                <a:latin typeface="Microsoft YaHei"/>
              </a:defRPr>
            </a:pPr>
            <a:r>
              <a:t>Q &amp;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1148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CCCCCC"/>
                </a:solidFill>
                <a:latin typeface="Microsoft YaHei"/>
              </a:defRPr>
            </a:pPr>
            <a:r>
              <a:t>有什么想问的？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